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19" r:id="rId1"/>
  </p:sldMasterIdLst>
  <p:notesMasterIdLst>
    <p:notesMasterId r:id="rId20"/>
  </p:notesMasterIdLst>
  <p:sldIdLst>
    <p:sldId id="256" r:id="rId2"/>
    <p:sldId id="272" r:id="rId3"/>
    <p:sldId id="286" r:id="rId4"/>
    <p:sldId id="321" r:id="rId5"/>
    <p:sldId id="322" r:id="rId6"/>
    <p:sldId id="288" r:id="rId7"/>
    <p:sldId id="289" r:id="rId8"/>
    <p:sldId id="309" r:id="rId9"/>
    <p:sldId id="313" r:id="rId10"/>
    <p:sldId id="310" r:id="rId11"/>
    <p:sldId id="311" r:id="rId12"/>
    <p:sldId id="326" r:id="rId13"/>
    <p:sldId id="316" r:id="rId14"/>
    <p:sldId id="317" r:id="rId15"/>
    <p:sldId id="319" r:id="rId16"/>
    <p:sldId id="325" r:id="rId17"/>
    <p:sldId id="318" r:id="rId18"/>
    <p:sldId id="259" r:id="rId19"/>
  </p:sldIdLst>
  <p:sldSz cx="12192000" cy="6858000"/>
  <p:notesSz cx="6858000" cy="9144000"/>
  <p:embeddedFontLst>
    <p:embeddedFont>
      <p:font typeface="Lato Black" panose="020F0502020204030203" pitchFamily="34" charset="0"/>
      <p:bold r:id="rId21"/>
      <p:boldItalic r:id="rId22"/>
    </p:embeddedFont>
    <p:embeddedFont>
      <p:font typeface="Libre Baskerville" panose="02000000000000000000" pitchFamily="2" charset="0"/>
      <p:regular r:id="rId23"/>
      <p:bold r:id="rId24"/>
      <p:italic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1"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4660"/>
  </p:normalViewPr>
  <p:slideViewPr>
    <p:cSldViewPr snapToGrid="0">
      <p:cViewPr varScale="1">
        <p:scale>
          <a:sx n="81" d="100"/>
          <a:sy n="81" d="100"/>
        </p:scale>
        <p:origin x="74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font" Target="fonts/font1.fntdata"/><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31"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dirty="0"/>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4</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0926399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6</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7670398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17</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3206586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E44B4A-C181-A351-5F43-7125B1FF4CA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8BE6594-9232-BD96-1132-D6DB3545BE4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7EB0055-6C21-4D87-0755-E08497B1717F}"/>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6EB1D534-7632-64C3-58A3-1084D537AF5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68D8A13-BEFF-E1DA-6C88-7629210A40DC}"/>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9302528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666E82-9E19-A610-6BC1-E1FF926D565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59C63AA-C41D-4329-C97B-BFB164BAFCF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C3900EA-26CA-5D2A-4F46-9A5D934BC03E}"/>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E2ADB9F2-870D-B2C0-F62C-6C4623F5EE7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1A7429B-46B3-B126-1A28-827BFA779806}"/>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0164082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1E923-800C-3552-EF11-450515DA57A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95197F7-C1FC-3A3A-C3A6-06E84AD2159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72BDAC3-BBAD-C329-598B-411467072C5C}"/>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10D065C1-312D-90EC-622E-D9CE2D4BF7F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1DD7124-98EB-9DD2-A12D-A99AF283F04A}"/>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29262386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855084-A590-319B-EF93-E67FB694029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5D4DCC9-6139-75B2-74D7-1E5F8FFC2C2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5747F84-DE60-C905-0C0F-E59541699E3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C652944-6E97-DE4D-6BD3-557A7A318D91}"/>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B5AE65F5-56AE-D069-1898-38E48D498CA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4B62650-B4AD-CEBD-BE5F-834BCAE3C98B}"/>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23618903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04920E-3D10-4B52-4B22-046FBE1751A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94F9BA9-91BF-73FC-D323-4955F24CF5E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41B589A-0951-182D-2997-1C21FE39320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207A79A-47CE-D8F0-1DAD-6F167D31369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3B5A2B3-C4A7-0777-063A-FBA31A1652F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5ADBA5E-2F9F-4C99-3B92-7F0345053D34}"/>
              </a:ext>
            </a:extLst>
          </p:cNvPr>
          <p:cNvSpPr>
            <a:spLocks noGrp="1"/>
          </p:cNvSpPr>
          <p:nvPr>
            <p:ph type="dt" sz="half" idx="10"/>
          </p:nvPr>
        </p:nvSpPr>
        <p:spPr/>
        <p:txBody>
          <a:bodyPr/>
          <a:lstStyle/>
          <a:p>
            <a:endParaRPr lang="en-IN"/>
          </a:p>
        </p:txBody>
      </p:sp>
      <p:sp>
        <p:nvSpPr>
          <p:cNvPr id="8" name="Footer Placeholder 7">
            <a:extLst>
              <a:ext uri="{FF2B5EF4-FFF2-40B4-BE49-F238E27FC236}">
                <a16:creationId xmlns:a16="http://schemas.microsoft.com/office/drawing/2014/main" id="{D69CF64A-1F17-C3A4-4B19-3CCEC0C6838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B7D12AC-E90B-66C5-9530-94AF8325A06E}"/>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6715596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CB87E-15C2-1B98-B57D-2CA5141C8D0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4D831EB-C658-4836-B4D9-C711C31A6CA5}"/>
              </a:ext>
            </a:extLst>
          </p:cNvPr>
          <p:cNvSpPr>
            <a:spLocks noGrp="1"/>
          </p:cNvSpPr>
          <p:nvPr>
            <p:ph type="dt" sz="half" idx="10"/>
          </p:nvPr>
        </p:nvSpPr>
        <p:spPr/>
        <p:txBody>
          <a:bodyPr/>
          <a:lstStyle/>
          <a:p>
            <a:endParaRPr lang="en-IN"/>
          </a:p>
        </p:txBody>
      </p:sp>
      <p:sp>
        <p:nvSpPr>
          <p:cNvPr id="4" name="Footer Placeholder 3">
            <a:extLst>
              <a:ext uri="{FF2B5EF4-FFF2-40B4-BE49-F238E27FC236}">
                <a16:creationId xmlns:a16="http://schemas.microsoft.com/office/drawing/2014/main" id="{31612E45-ABA6-79CE-88B4-F5EB8D64847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DE0A15C-37FB-687E-72E9-CCCCB84BD3D6}"/>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725680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69A43CF-9321-9E4A-7676-1E367B267587}"/>
              </a:ext>
            </a:extLst>
          </p:cNvPr>
          <p:cNvSpPr>
            <a:spLocks noGrp="1"/>
          </p:cNvSpPr>
          <p:nvPr>
            <p:ph type="dt" sz="half" idx="10"/>
          </p:nvPr>
        </p:nvSpPr>
        <p:spPr/>
        <p:txBody>
          <a:bodyPr/>
          <a:lstStyle/>
          <a:p>
            <a:endParaRPr lang="en-IN"/>
          </a:p>
        </p:txBody>
      </p:sp>
      <p:sp>
        <p:nvSpPr>
          <p:cNvPr id="3" name="Footer Placeholder 2">
            <a:extLst>
              <a:ext uri="{FF2B5EF4-FFF2-40B4-BE49-F238E27FC236}">
                <a16:creationId xmlns:a16="http://schemas.microsoft.com/office/drawing/2014/main" id="{9AEB3EC5-A423-ACA3-60BA-52E67C73FA9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7081276-0077-7369-EA9D-3B6F5411A81B}"/>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9342946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1883C-9BDE-A096-2FF7-2284BC3ED37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45FCB77-01ED-371A-C378-87142BA588D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0BE314C-072D-62B5-74A7-71F27F8B9A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F76BC03-4645-854A-D6C6-8D7C53B1C46A}"/>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B7657C3E-8B2C-C76D-C665-492B0024F39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26AAFE8-37A5-B1DC-F06D-4F1AEBF777FC}"/>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8015674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2FDE8-5686-E58A-5282-ADCF0FD5501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5AD8DBD-CD79-E21C-1D5F-D2C1E0F282E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4B30CDF-1345-9063-C079-926A86D5CD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927DA8D-9D7B-F54C-ED4E-D69D6A1A2ED3}"/>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0D5A9E2C-7BA6-2ABC-1DCB-152A940408E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5701528-13F3-4636-B4CD-91F06702D7EA}"/>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3339946553"/>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AADD17-8B2D-2A90-FA87-DC8F92485C6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A9C24DF-4B40-5AB3-F11E-A149F285080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2B4B148-3BA3-B0FC-93DF-D8B333EB471C}"/>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FFA5DED3-231D-931A-0D4A-1A61F7255BC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4141F99-7DA9-8E3D-A38F-579F9B5DDD5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8822769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FA7627C-8FDE-17F4-1C2E-6A33922C1F0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1653482-E7A3-04A1-2002-7C6FF244E5D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22B1F46-AB8F-8CE7-8D5B-1197534E5438}"/>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50F925A3-CB1C-DB46-C912-47528250EBA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9BEBD04-37D0-0D3D-FEF3-4B0E8E45AA57}"/>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39156821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B857716-F88A-7698-2CD8-A827578D8FC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DDE7FC9-BC25-AC0C-663A-FDA86A422D0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46AC0A0-8434-7217-23EC-D69B31C34E3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IN"/>
          </a:p>
        </p:txBody>
      </p:sp>
      <p:sp>
        <p:nvSpPr>
          <p:cNvPr id="5" name="Footer Placeholder 4">
            <a:extLst>
              <a:ext uri="{FF2B5EF4-FFF2-40B4-BE49-F238E27FC236}">
                <a16:creationId xmlns:a16="http://schemas.microsoft.com/office/drawing/2014/main" id="{11286BD4-A486-0498-370C-829DAEFC12E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DAC116E5-FEFD-512D-3BDD-81D30A76934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2123225819"/>
      </p:ext>
    </p:extLst>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 id="2147483730"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srikar42" TargetMode="External"/><Relationship Id="rId2" Type="http://schemas.openxmlformats.org/officeDocument/2006/relationships/hyperlink" Target="https://www.linkedin.com/in/emmadi-srikar-03baaa337"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www.linkedin.com/posts/emmadi-srikar-03baaa337_ai-computervision-pythonprojects-activity-7412896323714265088-nmYB?utm_source=share&amp;utm_medium=member_desktop&amp;rcm=ACoAAFSzla8Be3v9gFye535Y_jQ9rT0fL5q4Q6A"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0" y="37708"/>
            <a:ext cx="12192000" cy="6858000"/>
          </a:xfrm>
          <a:prstGeom prst="rect">
            <a:avLst/>
          </a:prstGeom>
          <a:noFill/>
          <a:ln>
            <a:noFill/>
          </a:ln>
        </p:spPr>
      </p:pic>
      <p:sp>
        <p:nvSpPr>
          <p:cNvPr id="99" name="Google Shape;99;p1"/>
          <p:cNvSpPr txBox="1"/>
          <p:nvPr/>
        </p:nvSpPr>
        <p:spPr>
          <a:xfrm>
            <a:off x="2472905" y="3793401"/>
            <a:ext cx="7246189" cy="584735"/>
          </a:xfrm>
          <a:prstGeom prst="rect">
            <a:avLst/>
          </a:prstGeom>
          <a:noFill/>
          <a:ln>
            <a:noFill/>
          </a:ln>
        </p:spPr>
        <p:txBody>
          <a:bodyPr spcFirstLastPara="1" wrap="square" lIns="91425" tIns="45700" rIns="91425" bIns="45700" anchor="t" anchorCtr="0">
            <a:spAutoFit/>
          </a:bodyPr>
          <a:lstStyle/>
          <a:p>
            <a:pPr lvl="0" algn="ctr">
              <a:buSzPts val="1800"/>
            </a:pPr>
            <a:r>
              <a:rPr lang="en-IN" sz="3200" dirty="0">
                <a:latin typeface="Lato Black" panose="020F0502020204030203" pitchFamily="34" charset="0"/>
                <a:ea typeface="Lato Black" panose="020F0502020204030203" pitchFamily="34" charset="0"/>
                <a:cs typeface="Lato Black" panose="020F0502020204030203" pitchFamily="34" charset="0"/>
              </a:rPr>
              <a:t>  AI Virtual Mouse </a:t>
            </a:r>
            <a:endParaRPr sz="3200" dirty="0">
              <a:latin typeface="Lato Black" panose="020F0502020204030203" pitchFamily="34" charset="0"/>
              <a:ea typeface="Lato Black" panose="020F0502020204030203" pitchFamily="34" charset="0"/>
              <a:cs typeface="Lato Black" panose="020F0502020204030203" pitchFamily="34" charset="0"/>
              <a:sym typeface="Arial"/>
            </a:endParaRPr>
          </a:p>
        </p:txBody>
      </p:sp>
      <p:sp>
        <p:nvSpPr>
          <p:cNvPr id="4" name="TextBox 3">
            <a:extLst>
              <a:ext uri="{FF2B5EF4-FFF2-40B4-BE49-F238E27FC236}">
                <a16:creationId xmlns:a16="http://schemas.microsoft.com/office/drawing/2014/main" id="{74E47615-D82F-DF0B-5663-5B8450D4CC01}"/>
              </a:ext>
            </a:extLst>
          </p:cNvPr>
          <p:cNvSpPr txBox="1"/>
          <p:nvPr/>
        </p:nvSpPr>
        <p:spPr>
          <a:xfrm>
            <a:off x="7984504" y="5194169"/>
            <a:ext cx="3233394" cy="1200329"/>
          </a:xfrm>
          <a:prstGeom prst="rect">
            <a:avLst/>
          </a:prstGeom>
          <a:noFill/>
        </p:spPr>
        <p:txBody>
          <a:bodyPr wrap="square" rtlCol="0">
            <a:spAutoFit/>
          </a:bodyPr>
          <a:lstStyle/>
          <a:p>
            <a:pPr algn="ctr">
              <a:buSzPts val="1800"/>
            </a:pPr>
            <a:r>
              <a:rPr lang="en-IN" b="1" dirty="0">
                <a:solidFill>
                  <a:schemeClr val="dk1"/>
                </a:solidFill>
                <a:latin typeface="Times New Roman" panose="02020603050405020304" pitchFamily="18" charset="0"/>
                <a:ea typeface="Calibri"/>
                <a:cs typeface="Times New Roman" panose="02020603050405020304" pitchFamily="18" charset="0"/>
              </a:rPr>
              <a:t>   </a:t>
            </a:r>
            <a:r>
              <a:rPr lang="en-IN" sz="1800" b="1" dirty="0">
                <a:solidFill>
                  <a:schemeClr val="dk1"/>
                </a:solidFill>
                <a:latin typeface="Times New Roman" panose="02020603050405020304" pitchFamily="18" charset="0"/>
                <a:ea typeface="Calibri"/>
                <a:cs typeface="Times New Roman" panose="02020603050405020304" pitchFamily="18" charset="0"/>
              </a:rPr>
              <a:t>Emmadi Srikar</a:t>
            </a:r>
          </a:p>
          <a:p>
            <a:pPr algn="ctr">
              <a:buSzPts val="1800"/>
            </a:pPr>
            <a:r>
              <a:rPr lang="en-IN" sz="1800" b="1" dirty="0">
                <a:solidFill>
                  <a:schemeClr val="dk1"/>
                </a:solidFill>
                <a:latin typeface="Times New Roman" panose="02020603050405020304" pitchFamily="18" charset="0"/>
                <a:ea typeface="Calibri"/>
                <a:cs typeface="Times New Roman" panose="02020603050405020304" pitchFamily="18" charset="0"/>
              </a:rPr>
              <a:t>Batch No :436</a:t>
            </a:r>
          </a:p>
          <a:p>
            <a:pPr algn="ctr">
              <a:buSzPts val="1800"/>
            </a:pPr>
            <a:r>
              <a:rPr lang="en-IN" sz="1800" b="1" dirty="0">
                <a:solidFill>
                  <a:schemeClr val="dk1"/>
                </a:solidFill>
                <a:latin typeface="Times New Roman" panose="02020603050405020304" pitchFamily="18" charset="0"/>
                <a:ea typeface="Calibri"/>
                <a:cs typeface="Times New Roman" panose="02020603050405020304" pitchFamily="18" charset="0"/>
              </a:rPr>
              <a:t>            Innomatics Research</a:t>
            </a:r>
          </a:p>
          <a:p>
            <a:pPr algn="ctr">
              <a:buSzPts val="1800"/>
            </a:pPr>
            <a:r>
              <a:rPr lang="en-IN" sz="1800" b="1" dirty="0">
                <a:solidFill>
                  <a:schemeClr val="dk1"/>
                </a:solidFill>
                <a:latin typeface="Times New Roman" panose="02020603050405020304" pitchFamily="18" charset="0"/>
                <a:ea typeface="Calibri"/>
                <a:cs typeface="Times New Roman" panose="02020603050405020304" pitchFamily="18" charset="0"/>
              </a:rPr>
              <a:t>         Labs Dilshuknagar         </a:t>
            </a:r>
            <a:r>
              <a:rPr lang="en-IN" b="1" dirty="0">
                <a:solidFill>
                  <a:schemeClr val="dk1"/>
                </a:solidFill>
                <a:latin typeface="Times New Roman" panose="02020603050405020304" pitchFamily="18" charset="0"/>
                <a:ea typeface="Calibri"/>
                <a:cs typeface="Times New Roman" panose="02020603050405020304" pitchFamily="18" charset="0"/>
              </a:rPr>
              <a: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31D26D-9A0D-1E88-9A25-F325A972DCF6}"/>
              </a:ext>
            </a:extLst>
          </p:cNvPr>
          <p:cNvSpPr>
            <a:spLocks noGrp="1"/>
          </p:cNvSpPr>
          <p:nvPr>
            <p:ph type="title"/>
          </p:nvPr>
        </p:nvSpPr>
        <p:spPr>
          <a:xfrm>
            <a:off x="838200" y="365126"/>
            <a:ext cx="10515600" cy="1048896"/>
          </a:xfrm>
        </p:spPr>
        <p:txBody>
          <a:bodyPr>
            <a:normAutofit/>
          </a:bodyPr>
          <a:lstStyle/>
          <a:p>
            <a:pPr>
              <a:lnSpc>
                <a:spcPct val="80000"/>
              </a:lnSpc>
              <a:buClr>
                <a:srgbClr val="FF0000"/>
              </a:buClr>
              <a:buSzPts val="3200"/>
              <a:buFont typeface="Arial"/>
            </a:pPr>
            <a:r>
              <a:rPr lang="en-IN" sz="3200" dirty="0">
                <a:solidFill>
                  <a:srgbClr val="FF0000"/>
                </a:solidFill>
                <a:latin typeface="Lato Black"/>
                <a:ea typeface="Lato Black"/>
                <a:cs typeface="Lato Black"/>
                <a:sym typeface="Arial"/>
              </a:rPr>
              <a:t>About me</a:t>
            </a:r>
          </a:p>
        </p:txBody>
      </p:sp>
      <p:sp>
        <p:nvSpPr>
          <p:cNvPr id="3" name="Text Placeholder 2">
            <a:extLst>
              <a:ext uri="{FF2B5EF4-FFF2-40B4-BE49-F238E27FC236}">
                <a16:creationId xmlns:a16="http://schemas.microsoft.com/office/drawing/2014/main" id="{B411EFCE-000B-1866-51F4-B884E1FB9101}"/>
              </a:ext>
            </a:extLst>
          </p:cNvPr>
          <p:cNvSpPr>
            <a:spLocks noGrp="1"/>
          </p:cNvSpPr>
          <p:nvPr>
            <p:ph idx="1"/>
          </p:nvPr>
        </p:nvSpPr>
        <p:spPr>
          <a:xfrm>
            <a:off x="838200" y="1508290"/>
            <a:ext cx="10515600" cy="4668674"/>
          </a:xfrm>
        </p:spPr>
        <p:txBody>
          <a:bodyPr/>
          <a:lstStyle/>
          <a:p>
            <a:pPr marL="114300" indent="0">
              <a:buNone/>
            </a:pPr>
            <a:r>
              <a:rPr lang="en-IN" sz="2000" dirty="0">
                <a:latin typeface="Times New Roman" panose="02020603050405020304" pitchFamily="18" charset="0"/>
                <a:cs typeface="Times New Roman" panose="02020603050405020304" pitchFamily="18" charset="0"/>
              </a:rPr>
              <a:t>I am </a:t>
            </a:r>
            <a:r>
              <a:rPr lang="en-IN" sz="2000" b="1" dirty="0">
                <a:latin typeface="Times New Roman" panose="02020603050405020304" pitchFamily="18" charset="0"/>
                <a:cs typeface="Times New Roman" panose="02020603050405020304" pitchFamily="18" charset="0"/>
              </a:rPr>
              <a:t>Emmadi Srikar.</a:t>
            </a:r>
          </a:p>
          <a:p>
            <a:pPr marL="114300" indent="0">
              <a:buNone/>
            </a:pPr>
            <a:endParaRPr lang="en-IN" sz="2000" dirty="0">
              <a:latin typeface="Times New Roman" panose="02020603050405020304" pitchFamily="18" charset="0"/>
              <a:cs typeface="Times New Roman" panose="02020603050405020304" pitchFamily="18" charset="0"/>
            </a:endParaRPr>
          </a:p>
          <a:p>
            <a:pPr marL="114300" indent="0">
              <a:buNone/>
            </a:pPr>
            <a:r>
              <a:rPr lang="en-IN" sz="2000" dirty="0">
                <a:latin typeface="Times New Roman" panose="02020603050405020304" pitchFamily="18" charset="0"/>
                <a:cs typeface="Times New Roman" panose="02020603050405020304" pitchFamily="18" charset="0"/>
              </a:rPr>
              <a:t>I completed my </a:t>
            </a:r>
            <a:r>
              <a:rPr lang="en-IN" sz="2000" dirty="0" err="1">
                <a:latin typeface="Times New Roman" panose="02020603050405020304" pitchFamily="18" charset="0"/>
                <a:cs typeface="Times New Roman" panose="02020603050405020304" pitchFamily="18" charset="0"/>
              </a:rPr>
              <a:t>B.Tech</a:t>
            </a:r>
            <a:r>
              <a:rPr lang="en-IN" sz="2000" dirty="0">
                <a:latin typeface="Times New Roman" panose="02020603050405020304" pitchFamily="18" charset="0"/>
                <a:cs typeface="Times New Roman" panose="02020603050405020304" pitchFamily="18" charset="0"/>
              </a:rPr>
              <a:t> in Computer Science and Engineering from St Mary’s Group of Institution Hyderabad.</a:t>
            </a:r>
          </a:p>
          <a:p>
            <a:pPr marL="114300" indent="0">
              <a:buNone/>
            </a:pPr>
            <a:endParaRPr lang="en-IN" sz="2400" dirty="0">
              <a:latin typeface="Times New Roman" panose="02020603050405020304" pitchFamily="18" charset="0"/>
              <a:cs typeface="Times New Roman" panose="02020603050405020304" pitchFamily="18" charset="0"/>
            </a:endParaRPr>
          </a:p>
          <a:p>
            <a:pPr marL="114300" indent="0">
              <a:buNone/>
            </a:pPr>
            <a:r>
              <a:rPr lang="en-IN" sz="2000" dirty="0">
                <a:latin typeface="Times New Roman" panose="02020603050405020304" pitchFamily="18" charset="0"/>
                <a:cs typeface="Times New Roman" panose="02020603050405020304" pitchFamily="18" charset="0"/>
              </a:rPr>
              <a:t>LinkedIn</a:t>
            </a:r>
            <a:r>
              <a:rPr lang="en-IN" sz="2400" dirty="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hlinkClick r:id="rId2"/>
              </a:rPr>
              <a:t>https://www.linkedin.com/in/emmadi-srikar-03baaa337</a:t>
            </a:r>
            <a:endParaRPr lang="en-IN" sz="2000" dirty="0">
              <a:latin typeface="Times New Roman" panose="02020603050405020304" pitchFamily="18" charset="0"/>
              <a:cs typeface="Times New Roman" panose="02020603050405020304" pitchFamily="18" charset="0"/>
            </a:endParaRPr>
          </a:p>
          <a:p>
            <a:pPr marL="114300" indent="0">
              <a:buNone/>
            </a:pPr>
            <a:endParaRPr lang="en-IN" sz="2400" dirty="0">
              <a:latin typeface="Times New Roman" panose="02020603050405020304" pitchFamily="18" charset="0"/>
              <a:cs typeface="Times New Roman" panose="02020603050405020304" pitchFamily="18" charset="0"/>
            </a:endParaRPr>
          </a:p>
          <a:p>
            <a:pPr marL="114300" indent="0">
              <a:buNone/>
            </a:pPr>
            <a:r>
              <a:rPr lang="en-IN" sz="2000" dirty="0" err="1">
                <a:latin typeface="Times New Roman" panose="02020603050405020304" pitchFamily="18" charset="0"/>
                <a:cs typeface="Times New Roman" panose="02020603050405020304" pitchFamily="18" charset="0"/>
              </a:rPr>
              <a:t>Github</a:t>
            </a:r>
            <a:r>
              <a:rPr lang="en-IN" sz="2000" dirty="0">
                <a:latin typeface="Times New Roman" panose="02020603050405020304" pitchFamily="18" charset="0"/>
                <a:cs typeface="Times New Roman" panose="02020603050405020304" pitchFamily="18" charset="0"/>
              </a:rPr>
              <a:t> : </a:t>
            </a:r>
            <a:r>
              <a:rPr lang="en-IN" sz="2000" dirty="0">
                <a:latin typeface="Times New Roman" panose="02020603050405020304" pitchFamily="18" charset="0"/>
                <a:cs typeface="Times New Roman" panose="02020603050405020304" pitchFamily="18" charset="0"/>
                <a:hlinkClick r:id="rId3"/>
              </a:rPr>
              <a:t>https://github.com/srikar42</a:t>
            </a:r>
            <a:endParaRPr lang="en-IN" sz="2000" dirty="0">
              <a:latin typeface="Times New Roman" panose="02020603050405020304" pitchFamily="18" charset="0"/>
              <a:cs typeface="Times New Roman" panose="02020603050405020304" pitchFamily="18" charset="0"/>
            </a:endParaRPr>
          </a:p>
          <a:p>
            <a:pPr marL="114300" indent="0">
              <a:buNone/>
            </a:pPr>
            <a:endParaRPr lang="en-IN" sz="2400" dirty="0">
              <a:latin typeface="Times New Roman" panose="02020603050405020304" pitchFamily="18" charset="0"/>
              <a:cs typeface="Times New Roman" panose="02020603050405020304" pitchFamily="18" charset="0"/>
            </a:endParaRPr>
          </a:p>
          <a:p>
            <a:pPr marL="114300" indent="0">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300908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96CDE4-402E-FC2B-EAFD-CA18F47D6F76}"/>
              </a:ext>
            </a:extLst>
          </p:cNvPr>
          <p:cNvSpPr>
            <a:spLocks noGrp="1"/>
          </p:cNvSpPr>
          <p:nvPr>
            <p:ph type="title"/>
          </p:nvPr>
        </p:nvSpPr>
        <p:spPr>
          <a:xfrm>
            <a:off x="838200" y="365126"/>
            <a:ext cx="10515600" cy="724824"/>
          </a:xfrm>
        </p:spPr>
        <p:txBody>
          <a:bodyPr/>
          <a:lstStyle/>
          <a:p>
            <a:r>
              <a:rPr lang="en-IN" sz="3200" dirty="0">
                <a:latin typeface="Times New Roman" panose="02020603050405020304" pitchFamily="18" charset="0"/>
                <a:cs typeface="Times New Roman" panose="02020603050405020304" pitchFamily="18" charset="0"/>
              </a:rPr>
              <a:t>AGENDA :</a:t>
            </a:r>
          </a:p>
        </p:txBody>
      </p:sp>
      <p:sp>
        <p:nvSpPr>
          <p:cNvPr id="3" name="Text Placeholder 2">
            <a:extLst>
              <a:ext uri="{FF2B5EF4-FFF2-40B4-BE49-F238E27FC236}">
                <a16:creationId xmlns:a16="http://schemas.microsoft.com/office/drawing/2014/main" id="{AC5D1BEC-7190-FECC-9D87-502FB20856E0}"/>
              </a:ext>
            </a:extLst>
          </p:cNvPr>
          <p:cNvSpPr>
            <a:spLocks noGrp="1"/>
          </p:cNvSpPr>
          <p:nvPr>
            <p:ph idx="1"/>
          </p:nvPr>
        </p:nvSpPr>
        <p:spPr>
          <a:xfrm>
            <a:off x="677945" y="1108803"/>
            <a:ext cx="10515600" cy="4678101"/>
          </a:xfrm>
        </p:spPr>
        <p:txBody>
          <a:bodyPr>
            <a:normAutofit/>
          </a:bodyPr>
          <a:lstStyle/>
          <a:p>
            <a:pPr marL="0" indent="0">
              <a:buNone/>
            </a:pPr>
            <a:r>
              <a:rPr lang="en-IN" sz="2100" dirty="0">
                <a:latin typeface="Times New Roman" panose="02020603050405020304" pitchFamily="18" charset="0"/>
                <a:cs typeface="Times New Roman" panose="02020603050405020304" pitchFamily="18" charset="0"/>
              </a:rPr>
              <a:t> </a:t>
            </a:r>
          </a:p>
          <a:p>
            <a:r>
              <a:rPr lang="en-IN" sz="2100" dirty="0">
                <a:latin typeface="Times New Roman" panose="02020603050405020304" pitchFamily="18" charset="0"/>
                <a:cs typeface="Times New Roman" panose="02020603050405020304" pitchFamily="18" charset="0"/>
              </a:rPr>
              <a:t>Problem Statement</a:t>
            </a:r>
          </a:p>
          <a:p>
            <a:r>
              <a:rPr lang="en-IN" sz="2100" dirty="0">
                <a:latin typeface="Times New Roman" panose="02020603050405020304" pitchFamily="18" charset="0"/>
                <a:cs typeface="Times New Roman" panose="02020603050405020304" pitchFamily="18" charset="0"/>
              </a:rPr>
              <a:t>Objective</a:t>
            </a:r>
          </a:p>
          <a:p>
            <a:r>
              <a:rPr lang="en-IN" sz="2100" dirty="0">
                <a:latin typeface="Times New Roman" panose="02020603050405020304" pitchFamily="18" charset="0"/>
                <a:cs typeface="Times New Roman" panose="02020603050405020304" pitchFamily="18" charset="0"/>
              </a:rPr>
              <a:t>Technologies Used</a:t>
            </a:r>
          </a:p>
          <a:p>
            <a:r>
              <a:rPr lang="en-IN" sz="2100" dirty="0">
                <a:latin typeface="Times New Roman" panose="02020603050405020304" pitchFamily="18" charset="0"/>
                <a:cs typeface="Times New Roman" panose="02020603050405020304" pitchFamily="18" charset="0"/>
              </a:rPr>
              <a:t>System Architecture</a:t>
            </a:r>
          </a:p>
          <a:p>
            <a:r>
              <a:rPr lang="en-IN" sz="2100" dirty="0">
                <a:latin typeface="Times New Roman" panose="02020603050405020304" pitchFamily="18" charset="0"/>
                <a:cs typeface="Times New Roman" panose="02020603050405020304" pitchFamily="18" charset="0"/>
              </a:rPr>
              <a:t>Hand Tracking Module</a:t>
            </a:r>
          </a:p>
          <a:p>
            <a:r>
              <a:rPr lang="en-IN" sz="2100" dirty="0">
                <a:latin typeface="Times New Roman" panose="02020603050405020304" pitchFamily="18" charset="0"/>
                <a:cs typeface="Times New Roman" panose="02020603050405020304" pitchFamily="18" charset="0"/>
              </a:rPr>
              <a:t>Gesture Mapping</a:t>
            </a:r>
          </a:p>
          <a:p>
            <a:r>
              <a:rPr lang="en-IN" sz="2100" dirty="0">
                <a:latin typeface="Times New Roman" panose="02020603050405020304" pitchFamily="18" charset="0"/>
                <a:cs typeface="Times New Roman" panose="02020603050405020304" pitchFamily="18" charset="0"/>
              </a:rPr>
              <a:t>Features Implemented </a:t>
            </a:r>
          </a:p>
          <a:p>
            <a:r>
              <a:rPr lang="en-IN" sz="2100" dirty="0">
                <a:latin typeface="Times New Roman" panose="02020603050405020304" pitchFamily="18" charset="0"/>
                <a:cs typeface="Times New Roman" panose="02020603050405020304" pitchFamily="18" charset="0"/>
              </a:rPr>
              <a:t>Advantages</a:t>
            </a:r>
          </a:p>
          <a:p>
            <a:r>
              <a:rPr lang="en-IN" sz="2100" dirty="0">
                <a:latin typeface="Times New Roman" panose="02020603050405020304" pitchFamily="18" charset="0"/>
                <a:cs typeface="Times New Roman" panose="02020603050405020304" pitchFamily="18" charset="0"/>
              </a:rPr>
              <a:t>Limitations</a:t>
            </a:r>
          </a:p>
          <a:p>
            <a:r>
              <a:rPr lang="en-IN" sz="2100" dirty="0">
                <a:latin typeface="Times New Roman" panose="02020603050405020304" pitchFamily="18" charset="0"/>
                <a:cs typeface="Times New Roman" panose="02020603050405020304" pitchFamily="18" charset="0"/>
              </a:rPr>
              <a:t>Conclusion</a:t>
            </a:r>
          </a:p>
          <a:p>
            <a:endParaRPr lang="en-IN" sz="2100"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41091620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ADC9C-702F-D463-7D34-5D4F0B963654}"/>
              </a:ext>
            </a:extLst>
          </p:cNvPr>
          <p:cNvSpPr>
            <a:spLocks noGrp="1"/>
          </p:cNvSpPr>
          <p:nvPr>
            <p:ph type="title"/>
          </p:nvPr>
        </p:nvSpPr>
        <p:spPr>
          <a:xfrm>
            <a:off x="781665" y="355293"/>
            <a:ext cx="10515600" cy="1325563"/>
          </a:xfrm>
        </p:spPr>
        <p:txBody>
          <a:bodyPr>
            <a:normAutofit/>
          </a:bodyPr>
          <a:lstStyle/>
          <a:p>
            <a:r>
              <a:rPr lang="en-IN" sz="3600" dirty="0">
                <a:latin typeface="Calibri" panose="020F0502020204030204" pitchFamily="34" charset="0"/>
                <a:ea typeface="Calibri" panose="020F0502020204030204" pitchFamily="34" charset="0"/>
                <a:cs typeface="Calibri" panose="020F0502020204030204" pitchFamily="34" charset="0"/>
              </a:rPr>
              <a:t>Introduction :</a:t>
            </a:r>
          </a:p>
        </p:txBody>
      </p:sp>
      <p:sp>
        <p:nvSpPr>
          <p:cNvPr id="3" name="Content Placeholder 2">
            <a:extLst>
              <a:ext uri="{FF2B5EF4-FFF2-40B4-BE49-F238E27FC236}">
                <a16:creationId xmlns:a16="http://schemas.microsoft.com/office/drawing/2014/main" id="{1DC635B0-7589-DAF0-ED66-BC2A5F8785EA}"/>
              </a:ext>
            </a:extLst>
          </p:cNvPr>
          <p:cNvSpPr>
            <a:spLocks noGrp="1"/>
          </p:cNvSpPr>
          <p:nvPr>
            <p:ph idx="1"/>
          </p:nvPr>
        </p:nvSpPr>
        <p:spPr>
          <a:xfrm>
            <a:off x="838200" y="1825625"/>
            <a:ext cx="10515600" cy="3641921"/>
          </a:xfrm>
        </p:spPr>
        <p:txBody>
          <a:bodyPr/>
          <a:lstStyle/>
          <a:p>
            <a:r>
              <a:rPr lang="en-US" sz="2100" dirty="0">
                <a:latin typeface="Times New Roman" panose="02020603050405020304" pitchFamily="18" charset="0"/>
                <a:cs typeface="Times New Roman" panose="02020603050405020304" pitchFamily="18" charset="0"/>
              </a:rPr>
              <a:t>This project is developed using the CRISP-ML methodology, starting from understanding the need for touch-free interaction to deploying a real-time AI Virtual Mouse system.</a:t>
            </a:r>
          </a:p>
          <a:p>
            <a:r>
              <a:rPr lang="en-US" sz="2100" dirty="0">
                <a:latin typeface="Times New Roman" panose="02020603050405020304" pitchFamily="18" charset="0"/>
                <a:cs typeface="Times New Roman" panose="02020603050405020304" pitchFamily="18" charset="0"/>
              </a:rPr>
              <a:t> Real-time video data is processed to extract hand landmarks, which are used for gesture recognition.</a:t>
            </a:r>
          </a:p>
          <a:p>
            <a:r>
              <a:rPr lang="en-US" sz="2100" dirty="0">
                <a:latin typeface="Times New Roman" panose="02020603050405020304" pitchFamily="18" charset="0"/>
                <a:cs typeface="Times New Roman" panose="02020603050405020304" pitchFamily="18" charset="0"/>
              </a:rPr>
              <a:t> The recognized gestures are mapped to mouse actions, ensuring a structured and reliable implementation</a:t>
            </a:r>
            <a:r>
              <a:rPr lang="en-US" dirty="0"/>
              <a:t>.</a:t>
            </a:r>
          </a:p>
          <a:p>
            <a:r>
              <a:rPr lang="en-US" sz="2100" dirty="0">
                <a:latin typeface="Times New Roman" panose="02020603050405020304" pitchFamily="18" charset="0"/>
                <a:cs typeface="Times New Roman" panose="02020603050405020304" pitchFamily="18" charset="0"/>
              </a:rPr>
              <a:t>This structured approach improves the system’s usability, performance, and real-time responsiveness in practical scenarios</a:t>
            </a:r>
            <a:r>
              <a:rPr lang="en-US" sz="2100" b="1" dirty="0">
                <a:latin typeface="Times New Roman" panose="02020603050405020304" pitchFamily="18" charset="0"/>
                <a:cs typeface="Times New Roman" panose="02020603050405020304" pitchFamily="18" charset="0"/>
              </a:rPr>
              <a:t>.</a:t>
            </a:r>
            <a:endParaRPr lang="en-US" dirty="0"/>
          </a:p>
          <a:p>
            <a:pPr marL="0" indent="0">
              <a:buNone/>
            </a:pPr>
            <a:endParaRPr lang="en-IN" dirty="0"/>
          </a:p>
        </p:txBody>
      </p:sp>
    </p:spTree>
    <p:extLst>
      <p:ext uri="{BB962C8B-B14F-4D97-AF65-F5344CB8AC3E}">
        <p14:creationId xmlns:p14="http://schemas.microsoft.com/office/powerpoint/2010/main" val="38640715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9541208-F5DC-6CB3-B655-049D87462AAD}"/>
              </a:ext>
            </a:extLst>
          </p:cNvPr>
          <p:cNvPicPr>
            <a:picLocks noChangeAspect="1"/>
          </p:cNvPicPr>
          <p:nvPr/>
        </p:nvPicPr>
        <p:blipFill>
          <a:blip r:embed="rId2"/>
          <a:stretch>
            <a:fillRect/>
          </a:stretch>
        </p:blipFill>
        <p:spPr>
          <a:xfrm>
            <a:off x="3555476" y="603317"/>
            <a:ext cx="4325331" cy="5674936"/>
          </a:xfrm>
          <a:prstGeom prst="rect">
            <a:avLst/>
          </a:prstGeom>
        </p:spPr>
      </p:pic>
    </p:spTree>
    <p:extLst>
      <p:ext uri="{BB962C8B-B14F-4D97-AF65-F5344CB8AC3E}">
        <p14:creationId xmlns:p14="http://schemas.microsoft.com/office/powerpoint/2010/main" val="34811179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0760E9-FB19-69FA-79B3-84864A522EBD}"/>
              </a:ext>
            </a:extLst>
          </p:cNvPr>
          <p:cNvSpPr>
            <a:spLocks noGrp="1"/>
          </p:cNvSpPr>
          <p:nvPr>
            <p:ph type="title"/>
          </p:nvPr>
        </p:nvSpPr>
        <p:spPr>
          <a:xfrm>
            <a:off x="763571" y="414780"/>
            <a:ext cx="10590229" cy="1206632"/>
          </a:xfrm>
        </p:spPr>
        <p:txBody>
          <a:bodyPr>
            <a:normAutofit fontScale="90000"/>
          </a:bodyPr>
          <a:lstStyle/>
          <a:p>
            <a:br>
              <a:rPr lang="en-IN" dirty="0">
                <a:latin typeface="Times New Roman" panose="02020603050405020304" pitchFamily="18" charset="0"/>
                <a:cs typeface="Times New Roman" panose="02020603050405020304" pitchFamily="18" charset="0"/>
              </a:rPr>
            </a:br>
            <a:r>
              <a:rPr lang="en-IN" sz="4000" dirty="0">
                <a:latin typeface="Calibri" panose="020F0502020204030204" pitchFamily="34" charset="0"/>
                <a:ea typeface="Calibri" panose="020F0502020204030204" pitchFamily="34" charset="0"/>
                <a:cs typeface="Calibri" panose="020F0502020204030204" pitchFamily="34" charset="0"/>
              </a:rPr>
              <a:t>Problem Statement :</a:t>
            </a:r>
            <a:br>
              <a:rPr lang="en-IN" sz="4000" dirty="0">
                <a:latin typeface="Calibri" panose="020F0502020204030204" pitchFamily="34" charset="0"/>
                <a:ea typeface="Calibri" panose="020F0502020204030204" pitchFamily="34" charset="0"/>
                <a:cs typeface="Calibri" panose="020F0502020204030204" pitchFamily="34" charset="0"/>
              </a:rPr>
            </a:br>
            <a:endParaRPr lang="en-IN" sz="4000" dirty="0">
              <a:latin typeface="Calibri" panose="020F0502020204030204" pitchFamily="34" charset="0"/>
              <a:ea typeface="Calibri" panose="020F0502020204030204" pitchFamily="34" charset="0"/>
              <a:cs typeface="Calibri" panose="020F0502020204030204" pitchFamily="34" charset="0"/>
            </a:endParaRPr>
          </a:p>
        </p:txBody>
      </p:sp>
      <p:sp>
        <p:nvSpPr>
          <p:cNvPr id="3" name="Text Placeholder 2">
            <a:extLst>
              <a:ext uri="{FF2B5EF4-FFF2-40B4-BE49-F238E27FC236}">
                <a16:creationId xmlns:a16="http://schemas.microsoft.com/office/drawing/2014/main" id="{F55535C5-462F-B7D4-1A3D-9D3A6E308381}"/>
              </a:ext>
            </a:extLst>
          </p:cNvPr>
          <p:cNvSpPr>
            <a:spLocks noGrp="1"/>
          </p:cNvSpPr>
          <p:nvPr>
            <p:ph idx="1"/>
          </p:nvPr>
        </p:nvSpPr>
        <p:spPr>
          <a:xfrm>
            <a:off x="612742" y="2017337"/>
            <a:ext cx="10590229" cy="3723586"/>
          </a:xfrm>
        </p:spPr>
        <p:txBody>
          <a:bodyPr>
            <a:normAutofit/>
          </a:bodyPr>
          <a:lstStyle/>
          <a:p>
            <a:pPr marL="457200" indent="-342900" algn="just">
              <a:lnSpc>
                <a:spcPct val="100000"/>
              </a:lnSpc>
            </a:pPr>
            <a:r>
              <a:rPr lang="en-IN" sz="2100" dirty="0">
                <a:latin typeface="Times New Roman" panose="02020603050405020304" pitchFamily="18" charset="0"/>
                <a:cs typeface="Times New Roman" panose="02020603050405020304" pitchFamily="18" charset="0"/>
              </a:rPr>
              <a:t>In many real-world situations—such as hospitals, public computer systems, classrooms, libraries, and workplaces—people frequently use shared computers. Traditional physical mice and touch devices require direct hand contact, which can spread germs, cause hygiene issues, and inconvenience users who have mobility limitations or physical disabilities.</a:t>
            </a:r>
          </a:p>
          <a:p>
            <a:pPr marL="457200" indent="-342900" algn="just">
              <a:lnSpc>
                <a:spcPct val="100000"/>
              </a:lnSpc>
            </a:pPr>
            <a:r>
              <a:rPr lang="en-IN" sz="2100" dirty="0">
                <a:latin typeface="Times New Roman" panose="02020603050405020304" pitchFamily="18" charset="0"/>
                <a:cs typeface="Times New Roman" panose="02020603050405020304" pitchFamily="18" charset="0"/>
              </a:rPr>
              <a:t>Therefore, there is a need for a touch-free, gesture-based virtual mouse system that allows users to control the computer using only their hand movements captured by a webcam </a:t>
            </a:r>
            <a:r>
              <a:rPr lang="en-IN" sz="2000" dirty="0">
                <a:latin typeface="Times New Roman" panose="02020603050405020304" pitchFamily="18" charset="0"/>
                <a:cs typeface="Times New Roman" panose="02020603050405020304" pitchFamily="18" charset="0"/>
              </a:rPr>
              <a:t>The goal is to create an AI-powered virtual mouse that recognizes moving the cursor, clicking, scrolling without touching any physical device.</a:t>
            </a:r>
          </a:p>
          <a:p>
            <a:pPr marL="114300" indent="0" algn="just">
              <a:lnSpc>
                <a:spcPct val="100000"/>
              </a:lnSpc>
              <a:buNone/>
            </a:pPr>
            <a:endParaRPr lang="en-US" sz="2000" dirty="0"/>
          </a:p>
          <a:p>
            <a:pPr marL="571500" indent="-457200" algn="just">
              <a:lnSpc>
                <a:spcPct val="100000"/>
              </a:lnSpc>
            </a:pPr>
            <a:endParaRPr lang="en-US" sz="2000" dirty="0"/>
          </a:p>
          <a:p>
            <a:pPr marL="571500" indent="-457200" algn="just">
              <a:lnSpc>
                <a:spcPct val="100000"/>
              </a:lnSpc>
            </a:pPr>
            <a:endParaRPr lang="en-US" dirty="0"/>
          </a:p>
          <a:p>
            <a:pPr marL="571500" indent="-457200" algn="just">
              <a:lnSpc>
                <a:spcPct val="100000"/>
              </a:lnSpc>
            </a:pPr>
            <a:endParaRPr lang="en-IN" dirty="0"/>
          </a:p>
          <a:p>
            <a:pPr marL="114300" indent="0" algn="just">
              <a:lnSpc>
                <a:spcPct val="100000"/>
              </a:lnSpc>
              <a:buNone/>
            </a:pPr>
            <a:endParaRPr lang="en-IN" dirty="0"/>
          </a:p>
        </p:txBody>
      </p:sp>
      <p:sp>
        <p:nvSpPr>
          <p:cNvPr id="19" name="Rectangle 14">
            <a:extLst>
              <a:ext uri="{FF2B5EF4-FFF2-40B4-BE49-F238E27FC236}">
                <a16:creationId xmlns:a16="http://schemas.microsoft.com/office/drawing/2014/main" id="{E29383A9-E698-76F3-ABAF-B89ECC498800}"/>
              </a:ext>
            </a:extLst>
          </p:cNvPr>
          <p:cNvSpPr>
            <a:spLocks noChangeArrowheads="1"/>
          </p:cNvSpPr>
          <p:nvPr/>
        </p:nvSpPr>
        <p:spPr bwMode="auto">
          <a:xfrm>
            <a:off x="-537761" y="-80972"/>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548180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8EEF8C-9AD6-674A-7734-938BF699ACC2}"/>
              </a:ext>
            </a:extLst>
          </p:cNvPr>
          <p:cNvSpPr>
            <a:spLocks noGrp="1"/>
          </p:cNvSpPr>
          <p:nvPr>
            <p:ph type="title"/>
          </p:nvPr>
        </p:nvSpPr>
        <p:spPr>
          <a:xfrm>
            <a:off x="716436" y="367644"/>
            <a:ext cx="10637363" cy="1225485"/>
          </a:xfrm>
        </p:spPr>
        <p:txBody>
          <a:bodyPr>
            <a:normAutofit/>
          </a:bodyPr>
          <a:lstStyle/>
          <a:p>
            <a:r>
              <a:rPr lang="en-IN" sz="3600" dirty="0">
                <a:latin typeface="Calibri" panose="020F0502020204030204" pitchFamily="34" charset="0"/>
                <a:ea typeface="Calibri" panose="020F0502020204030204" pitchFamily="34" charset="0"/>
                <a:cs typeface="Calibri" panose="020F0502020204030204" pitchFamily="34" charset="0"/>
              </a:rPr>
              <a:t>Objective :</a:t>
            </a:r>
          </a:p>
        </p:txBody>
      </p:sp>
      <p:sp>
        <p:nvSpPr>
          <p:cNvPr id="3" name="Text Placeholder 2">
            <a:extLst>
              <a:ext uri="{FF2B5EF4-FFF2-40B4-BE49-F238E27FC236}">
                <a16:creationId xmlns:a16="http://schemas.microsoft.com/office/drawing/2014/main" id="{27A16FBD-DFD6-B2BD-9B02-2C665DC62C78}"/>
              </a:ext>
            </a:extLst>
          </p:cNvPr>
          <p:cNvSpPr>
            <a:spLocks noGrp="1"/>
          </p:cNvSpPr>
          <p:nvPr>
            <p:ph idx="1"/>
          </p:nvPr>
        </p:nvSpPr>
        <p:spPr>
          <a:xfrm>
            <a:off x="716438" y="1932495"/>
            <a:ext cx="10637362" cy="3704734"/>
          </a:xfrm>
        </p:spPr>
        <p:txBody>
          <a:bodyPr vert="horz" wrap="square" anchor="t" anchorCtr="0">
            <a:noAutofit/>
          </a:bodyPr>
          <a:lstStyle/>
          <a:p>
            <a:pPr marL="0" indent="0">
              <a:buNone/>
            </a:pPr>
            <a:r>
              <a:rPr lang="en-IN" sz="2400" dirty="0"/>
              <a:t> </a:t>
            </a:r>
            <a:r>
              <a:rPr lang="en-IN" sz="2100" dirty="0">
                <a:latin typeface="Times New Roman" panose="02020603050405020304" pitchFamily="18" charset="0"/>
                <a:cs typeface="Times New Roman" panose="02020603050405020304" pitchFamily="18" charset="0"/>
              </a:rPr>
              <a:t>This project solves the problem by using:</a:t>
            </a:r>
          </a:p>
          <a:p>
            <a:pPr marL="0" indent="0">
              <a:buNone/>
            </a:pPr>
            <a:endParaRPr lang="en-IN" sz="2100" dirty="0">
              <a:latin typeface="Times New Roman" panose="02020603050405020304" pitchFamily="18" charset="0"/>
              <a:cs typeface="Times New Roman" panose="02020603050405020304" pitchFamily="18" charset="0"/>
            </a:endParaRPr>
          </a:p>
          <a:p>
            <a:pPr lvl="0"/>
            <a:r>
              <a:rPr lang="en-IN" sz="2100" dirty="0">
                <a:latin typeface="Times New Roman" panose="02020603050405020304" pitchFamily="18" charset="0"/>
                <a:cs typeface="Times New Roman" panose="02020603050405020304" pitchFamily="18" charset="0"/>
              </a:rPr>
              <a:t>A webcam to capture hand movements</a:t>
            </a:r>
          </a:p>
          <a:p>
            <a:pPr lvl="0"/>
            <a:r>
              <a:rPr lang="en-IN" sz="2100" dirty="0">
                <a:latin typeface="Times New Roman" panose="02020603050405020304" pitchFamily="18" charset="0"/>
                <a:cs typeface="Times New Roman" panose="02020603050405020304" pitchFamily="18" charset="0"/>
              </a:rPr>
              <a:t>AI-based hand landmark detection</a:t>
            </a:r>
          </a:p>
          <a:p>
            <a:pPr lvl="0"/>
            <a:r>
              <a:rPr lang="en-IN" sz="2100" dirty="0">
                <a:latin typeface="Times New Roman" panose="02020603050405020304" pitchFamily="18" charset="0"/>
                <a:cs typeface="Times New Roman" panose="02020603050405020304" pitchFamily="18" charset="0"/>
              </a:rPr>
              <a:t>Gesture recognition logic to perform mouse actions</a:t>
            </a:r>
          </a:p>
          <a:p>
            <a:r>
              <a:rPr lang="en-IN" sz="2100" dirty="0">
                <a:latin typeface="Times New Roman" panose="02020603050405020304" pitchFamily="18" charset="0"/>
                <a:cs typeface="Times New Roman" panose="02020603050405020304" pitchFamily="18" charset="0"/>
              </a:rPr>
              <a:t>Users can operate the computer only using hand gestures, without touching any hardware</a:t>
            </a:r>
            <a:endParaRPr lang="en-US" sz="2100" dirty="0">
              <a:latin typeface="Times New Roman" panose="02020603050405020304" pitchFamily="18" charset="0"/>
              <a:cs typeface="Times New Roman" panose="02020603050405020304" pitchFamily="18" charset="0"/>
            </a:endParaRPr>
          </a:p>
        </p:txBody>
      </p:sp>
      <p:sp>
        <p:nvSpPr>
          <p:cNvPr id="7" name="Rectangle 4">
            <a:extLst>
              <a:ext uri="{FF2B5EF4-FFF2-40B4-BE49-F238E27FC236}">
                <a16:creationId xmlns:a16="http://schemas.microsoft.com/office/drawing/2014/main" id="{D8F64687-427F-90BD-344C-1080BBE946E6}"/>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681314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841A10-886B-E56D-63F4-ECCA9472281D}"/>
              </a:ext>
            </a:extLst>
          </p:cNvPr>
          <p:cNvSpPr>
            <a:spLocks noGrp="1"/>
          </p:cNvSpPr>
          <p:nvPr>
            <p:ph type="title"/>
          </p:nvPr>
        </p:nvSpPr>
        <p:spPr>
          <a:xfrm>
            <a:off x="838200" y="476053"/>
            <a:ext cx="10605155" cy="923828"/>
          </a:xfrm>
        </p:spPr>
        <p:txBody>
          <a:bodyPr>
            <a:normAutofit/>
          </a:bodyPr>
          <a:lstStyle/>
          <a:p>
            <a:r>
              <a:rPr lang="en-IN" sz="3600" dirty="0">
                <a:latin typeface="Calibri" panose="020F0502020204030204" pitchFamily="34" charset="0"/>
                <a:ea typeface="Calibri" panose="020F0502020204030204" pitchFamily="34" charset="0"/>
                <a:cs typeface="Calibri" panose="020F0502020204030204" pitchFamily="34" charset="0"/>
              </a:rPr>
              <a:t>Technologies Used :</a:t>
            </a:r>
          </a:p>
        </p:txBody>
      </p:sp>
      <p:sp>
        <p:nvSpPr>
          <p:cNvPr id="3" name="Content Placeholder 2">
            <a:extLst>
              <a:ext uri="{FF2B5EF4-FFF2-40B4-BE49-F238E27FC236}">
                <a16:creationId xmlns:a16="http://schemas.microsoft.com/office/drawing/2014/main" id="{28E8A323-0B67-2808-8F3B-4F616245A8B6}"/>
              </a:ext>
            </a:extLst>
          </p:cNvPr>
          <p:cNvSpPr>
            <a:spLocks noGrp="1"/>
          </p:cNvSpPr>
          <p:nvPr>
            <p:ph idx="1"/>
          </p:nvPr>
        </p:nvSpPr>
        <p:spPr>
          <a:xfrm>
            <a:off x="838200" y="1932494"/>
            <a:ext cx="10515600" cy="3525625"/>
          </a:xfrm>
        </p:spPr>
        <p:txBody>
          <a:bodyPr/>
          <a:lstStyle/>
          <a:p>
            <a:r>
              <a:rPr lang="en-IN" sz="2100" b="1" dirty="0">
                <a:latin typeface="Times New Roman" panose="02020603050405020304" pitchFamily="18" charset="0"/>
                <a:cs typeface="Times New Roman" panose="02020603050405020304" pitchFamily="18" charset="0"/>
              </a:rPr>
              <a:t>Python</a:t>
            </a:r>
            <a:r>
              <a:rPr lang="en-IN" sz="2100" dirty="0">
                <a:latin typeface="Times New Roman" panose="02020603050405020304" pitchFamily="18" charset="0"/>
                <a:cs typeface="Times New Roman" panose="02020603050405020304" pitchFamily="18" charset="0"/>
              </a:rPr>
              <a:t> – Programming language</a:t>
            </a:r>
          </a:p>
          <a:p>
            <a:r>
              <a:rPr lang="en-IN" sz="2100" b="1" dirty="0">
                <a:latin typeface="Times New Roman" panose="02020603050405020304" pitchFamily="18" charset="0"/>
                <a:cs typeface="Times New Roman" panose="02020603050405020304" pitchFamily="18" charset="0"/>
              </a:rPr>
              <a:t>OpenCV</a:t>
            </a:r>
            <a:r>
              <a:rPr lang="en-IN" sz="2100" dirty="0">
                <a:latin typeface="Times New Roman" panose="02020603050405020304" pitchFamily="18" charset="0"/>
                <a:cs typeface="Times New Roman" panose="02020603050405020304" pitchFamily="18" charset="0"/>
              </a:rPr>
              <a:t> – Camera handling &amp; UI</a:t>
            </a:r>
          </a:p>
          <a:p>
            <a:r>
              <a:rPr lang="en-IN" sz="2100" b="1" dirty="0" err="1">
                <a:latin typeface="Times New Roman" panose="02020603050405020304" pitchFamily="18" charset="0"/>
                <a:cs typeface="Times New Roman" panose="02020603050405020304" pitchFamily="18" charset="0"/>
              </a:rPr>
              <a:t>MediaPipe</a:t>
            </a:r>
            <a:r>
              <a:rPr lang="en-IN" sz="2100" dirty="0">
                <a:latin typeface="Times New Roman" panose="02020603050405020304" pitchFamily="18" charset="0"/>
                <a:cs typeface="Times New Roman" panose="02020603050405020304" pitchFamily="18" charset="0"/>
              </a:rPr>
              <a:t> – AI-based hand tracking</a:t>
            </a:r>
          </a:p>
          <a:p>
            <a:r>
              <a:rPr lang="en-IN" sz="2100" b="1" dirty="0">
                <a:latin typeface="Times New Roman" panose="02020603050405020304" pitchFamily="18" charset="0"/>
                <a:cs typeface="Times New Roman" panose="02020603050405020304" pitchFamily="18" charset="0"/>
              </a:rPr>
              <a:t>NumPy</a:t>
            </a:r>
            <a:r>
              <a:rPr lang="en-IN" sz="2100" dirty="0">
                <a:latin typeface="Times New Roman" panose="02020603050405020304" pitchFamily="18" charset="0"/>
                <a:cs typeface="Times New Roman" panose="02020603050405020304" pitchFamily="18" charset="0"/>
              </a:rPr>
              <a:t> – Mathematical mapping</a:t>
            </a:r>
          </a:p>
          <a:p>
            <a:r>
              <a:rPr lang="en-IN" sz="2100" b="1" dirty="0" err="1">
                <a:latin typeface="Times New Roman" panose="02020603050405020304" pitchFamily="18" charset="0"/>
                <a:cs typeface="Times New Roman" panose="02020603050405020304" pitchFamily="18" charset="0"/>
              </a:rPr>
              <a:t>AutoPy</a:t>
            </a:r>
            <a:r>
              <a:rPr lang="en-IN" sz="2100" dirty="0">
                <a:latin typeface="Times New Roman" panose="02020603050405020304" pitchFamily="18" charset="0"/>
                <a:cs typeface="Times New Roman" panose="02020603050405020304" pitchFamily="18" charset="0"/>
              </a:rPr>
              <a:t> – Mouse movement &amp; click</a:t>
            </a:r>
          </a:p>
          <a:p>
            <a:r>
              <a:rPr lang="en-IN" sz="2100" b="1" dirty="0" err="1">
                <a:latin typeface="Times New Roman" panose="02020603050405020304" pitchFamily="18" charset="0"/>
                <a:cs typeface="Times New Roman" panose="02020603050405020304" pitchFamily="18" charset="0"/>
              </a:rPr>
              <a:t>PyAutoGUI</a:t>
            </a:r>
            <a:r>
              <a:rPr lang="en-IN" sz="2100" dirty="0">
                <a:latin typeface="Times New Roman" panose="02020603050405020304" pitchFamily="18" charset="0"/>
                <a:cs typeface="Times New Roman" panose="02020603050405020304" pitchFamily="18" charset="0"/>
              </a:rPr>
              <a:t> – Scrolling &amp; screenshot</a:t>
            </a:r>
          </a:p>
        </p:txBody>
      </p:sp>
    </p:spTree>
    <p:extLst>
      <p:ext uri="{BB962C8B-B14F-4D97-AF65-F5344CB8AC3E}">
        <p14:creationId xmlns:p14="http://schemas.microsoft.com/office/powerpoint/2010/main" val="22420768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09472DA0-92A8-2FAE-56C6-3866FAD6B7E6}"/>
              </a:ext>
            </a:extLst>
          </p:cNvPr>
          <p:cNvPicPr>
            <a:picLocks noChangeAspect="1"/>
          </p:cNvPicPr>
          <p:nvPr/>
        </p:nvPicPr>
        <p:blipFill>
          <a:blip r:embed="rId2"/>
          <a:stretch>
            <a:fillRect/>
          </a:stretch>
        </p:blipFill>
        <p:spPr>
          <a:xfrm>
            <a:off x="1169317" y="461914"/>
            <a:ext cx="9256729" cy="6171152"/>
          </a:xfrm>
          <a:prstGeom prst="rect">
            <a:avLst/>
          </a:prstGeom>
        </p:spPr>
      </p:pic>
    </p:spTree>
    <p:extLst>
      <p:ext uri="{BB962C8B-B14F-4D97-AF65-F5344CB8AC3E}">
        <p14:creationId xmlns:p14="http://schemas.microsoft.com/office/powerpoint/2010/main" val="42909084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8FB539-6C94-1EBF-BDC6-F31ED467BFF6}"/>
              </a:ext>
            </a:extLst>
          </p:cNvPr>
          <p:cNvSpPr>
            <a:spLocks noGrp="1"/>
          </p:cNvSpPr>
          <p:nvPr>
            <p:ph type="title"/>
          </p:nvPr>
        </p:nvSpPr>
        <p:spPr>
          <a:xfrm>
            <a:off x="650449" y="358219"/>
            <a:ext cx="10703351" cy="923827"/>
          </a:xfrm>
        </p:spPr>
        <p:txBody>
          <a:bodyPr>
            <a:normAutofit/>
          </a:bodyPr>
          <a:lstStyle/>
          <a:p>
            <a:r>
              <a:rPr lang="en-IN" sz="3600" dirty="0">
                <a:latin typeface="Calibri" panose="020F0502020204030204" pitchFamily="34" charset="0"/>
                <a:ea typeface="Calibri" panose="020F0502020204030204" pitchFamily="34" charset="0"/>
                <a:cs typeface="Calibri" panose="020F0502020204030204" pitchFamily="34" charset="0"/>
              </a:rPr>
              <a:t>Hand Tracking Module :</a:t>
            </a:r>
          </a:p>
        </p:txBody>
      </p:sp>
      <p:sp>
        <p:nvSpPr>
          <p:cNvPr id="3" name="Content Placeholder 2">
            <a:extLst>
              <a:ext uri="{FF2B5EF4-FFF2-40B4-BE49-F238E27FC236}">
                <a16:creationId xmlns:a16="http://schemas.microsoft.com/office/drawing/2014/main" id="{2EB58398-A832-A510-5B4A-83111CD334E5}"/>
              </a:ext>
            </a:extLst>
          </p:cNvPr>
          <p:cNvSpPr>
            <a:spLocks noGrp="1"/>
          </p:cNvSpPr>
          <p:nvPr>
            <p:ph idx="1"/>
          </p:nvPr>
        </p:nvSpPr>
        <p:spPr>
          <a:xfrm>
            <a:off x="838200" y="1564849"/>
            <a:ext cx="10515600" cy="4612113"/>
          </a:xfrm>
        </p:spPr>
        <p:txBody>
          <a:bodyPr>
            <a:normAutofit/>
          </a:bodyPr>
          <a:lstStyle/>
          <a:p>
            <a:r>
              <a:rPr lang="en-IN" sz="2000" dirty="0">
                <a:latin typeface="Times New Roman" panose="02020603050405020304" pitchFamily="18" charset="0"/>
                <a:cs typeface="Times New Roman" panose="02020603050405020304" pitchFamily="18" charset="0"/>
              </a:rPr>
              <a:t>Detects 21 hand landmarks</a:t>
            </a:r>
          </a:p>
          <a:p>
            <a:r>
              <a:rPr lang="en-IN" sz="2000" dirty="0">
                <a:latin typeface="Times New Roman" panose="02020603050405020304" pitchFamily="18" charset="0"/>
                <a:cs typeface="Times New Roman" panose="02020603050405020304" pitchFamily="18" charset="0"/>
              </a:rPr>
              <a:t>Tracks finger positions</a:t>
            </a:r>
          </a:p>
          <a:p>
            <a:r>
              <a:rPr lang="en-IN" sz="2000" dirty="0">
                <a:latin typeface="Times New Roman" panose="02020603050405020304" pitchFamily="18" charset="0"/>
                <a:cs typeface="Times New Roman" panose="02020603050405020304" pitchFamily="18" charset="0"/>
              </a:rPr>
              <a:t>Identifies which fingers are up</a:t>
            </a:r>
          </a:p>
          <a:p>
            <a:r>
              <a:rPr lang="en-IN" sz="2000" dirty="0">
                <a:latin typeface="Times New Roman" panose="02020603050405020304" pitchFamily="18" charset="0"/>
                <a:cs typeface="Times New Roman" panose="02020603050405020304" pitchFamily="18" charset="0"/>
              </a:rPr>
              <a:t>Calculates distance between fingers</a:t>
            </a:r>
          </a:p>
          <a:p>
            <a:r>
              <a:rPr lang="en-IN" sz="2000" dirty="0">
                <a:latin typeface="Times New Roman" panose="02020603050405020304" pitchFamily="18" charset="0"/>
                <a:cs typeface="Times New Roman" panose="02020603050405020304" pitchFamily="18" charset="0"/>
              </a:rPr>
              <a:t>Used for gesture recognition</a:t>
            </a:r>
          </a:p>
          <a:p>
            <a:endParaRPr lang="en-IN" sz="2000"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563936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CE65D6-9758-83D0-E6AF-D320E7E538B9}"/>
              </a:ext>
            </a:extLst>
          </p:cNvPr>
          <p:cNvSpPr>
            <a:spLocks noGrp="1"/>
          </p:cNvSpPr>
          <p:nvPr>
            <p:ph type="title"/>
          </p:nvPr>
        </p:nvSpPr>
        <p:spPr>
          <a:xfrm>
            <a:off x="838200" y="365125"/>
            <a:ext cx="10515600" cy="803275"/>
          </a:xfrm>
        </p:spPr>
        <p:txBody>
          <a:bodyPr>
            <a:normAutofit/>
          </a:bodyPr>
          <a:lstStyle/>
          <a:p>
            <a:r>
              <a:rPr lang="en-IN" sz="3600" dirty="0">
                <a:latin typeface="Calibri" panose="020F0502020204030204" pitchFamily="34" charset="0"/>
                <a:ea typeface="Calibri" panose="020F0502020204030204" pitchFamily="34" charset="0"/>
                <a:cs typeface="Calibri" panose="020F0502020204030204" pitchFamily="34" charset="0"/>
              </a:rPr>
              <a:t>Gesture Mapping :</a:t>
            </a:r>
          </a:p>
        </p:txBody>
      </p:sp>
      <p:graphicFrame>
        <p:nvGraphicFramePr>
          <p:cNvPr id="9" name="Content Placeholder 8">
            <a:extLst>
              <a:ext uri="{FF2B5EF4-FFF2-40B4-BE49-F238E27FC236}">
                <a16:creationId xmlns:a16="http://schemas.microsoft.com/office/drawing/2014/main" id="{B5761FA3-6B4A-42E4-69E1-3902DE85DECE}"/>
              </a:ext>
            </a:extLst>
          </p:cNvPr>
          <p:cNvGraphicFramePr>
            <a:graphicFrameLocks noGrp="1"/>
          </p:cNvGraphicFramePr>
          <p:nvPr>
            <p:ph idx="1"/>
            <p:extLst>
              <p:ext uri="{D42A27DB-BD31-4B8C-83A1-F6EECF244321}">
                <p14:modId xmlns:p14="http://schemas.microsoft.com/office/powerpoint/2010/main" val="1623561198"/>
              </p:ext>
            </p:extLst>
          </p:nvPr>
        </p:nvGraphicFramePr>
        <p:xfrm>
          <a:off x="838200" y="1960880"/>
          <a:ext cx="10515600" cy="4006374"/>
        </p:xfrm>
        <a:graphic>
          <a:graphicData uri="http://schemas.openxmlformats.org/drawingml/2006/table">
            <a:tbl>
              <a:tblPr/>
              <a:tblGrid>
                <a:gridCol w="3505200">
                  <a:extLst>
                    <a:ext uri="{9D8B030D-6E8A-4147-A177-3AD203B41FA5}">
                      <a16:colId xmlns:a16="http://schemas.microsoft.com/office/drawing/2014/main" val="3349342308"/>
                    </a:ext>
                  </a:extLst>
                </a:gridCol>
                <a:gridCol w="3505200">
                  <a:extLst>
                    <a:ext uri="{9D8B030D-6E8A-4147-A177-3AD203B41FA5}">
                      <a16:colId xmlns:a16="http://schemas.microsoft.com/office/drawing/2014/main" val="2471621511"/>
                    </a:ext>
                  </a:extLst>
                </a:gridCol>
                <a:gridCol w="3505200">
                  <a:extLst>
                    <a:ext uri="{9D8B030D-6E8A-4147-A177-3AD203B41FA5}">
                      <a16:colId xmlns:a16="http://schemas.microsoft.com/office/drawing/2014/main" val="1396382261"/>
                    </a:ext>
                  </a:extLst>
                </a:gridCol>
              </a:tblGrid>
              <a:tr h="372686">
                <a:tc>
                  <a:txBody>
                    <a:bodyPr/>
                    <a:lstStyle/>
                    <a:p>
                      <a:pPr>
                        <a:buNone/>
                      </a:pPr>
                      <a:r>
                        <a:rPr lang="en-IN" dirty="0"/>
                        <a:t> Action</a:t>
                      </a:r>
                    </a:p>
                  </a:txBody>
                  <a:tcPr anchor="ctr">
                    <a:lnL>
                      <a:noFill/>
                    </a:lnL>
                    <a:lnR>
                      <a:noFill/>
                    </a:lnR>
                    <a:lnT>
                      <a:noFill/>
                    </a:lnT>
                    <a:lnB>
                      <a:noFill/>
                    </a:lnB>
                    <a:noFill/>
                  </a:tcPr>
                </a:tc>
                <a:tc>
                  <a:txBody>
                    <a:bodyPr/>
                    <a:lstStyle/>
                    <a:p>
                      <a:pPr>
                        <a:buNone/>
                      </a:pPr>
                      <a:r>
                        <a:rPr lang="en-IN" dirty="0"/>
                        <a:t> Gesture (With Emojis)</a:t>
                      </a:r>
                    </a:p>
                  </a:txBody>
                  <a:tcPr anchor="ctr">
                    <a:lnL>
                      <a:noFill/>
                    </a:lnL>
                    <a:lnR>
                      <a:noFill/>
                    </a:lnR>
                    <a:lnT>
                      <a:noFill/>
                    </a:lnT>
                    <a:lnB>
                      <a:noFill/>
                    </a:lnB>
                    <a:noFill/>
                  </a:tcPr>
                </a:tc>
                <a:tc>
                  <a:txBody>
                    <a:bodyPr/>
                    <a:lstStyle/>
                    <a:p>
                      <a:pPr>
                        <a:buNone/>
                      </a:pPr>
                      <a:r>
                        <a:rPr lang="en-US" dirty="0"/>
                        <a:t> How to Do It </a:t>
                      </a:r>
                    </a:p>
                  </a:txBody>
                  <a:tcPr anchor="ctr">
                    <a:lnL>
                      <a:noFill/>
                    </a:lnL>
                    <a:lnR>
                      <a:noFill/>
                    </a:lnR>
                    <a:lnT>
                      <a:noFill/>
                    </a:lnT>
                    <a:lnB>
                      <a:noFill/>
                    </a:lnB>
                    <a:noFill/>
                  </a:tcPr>
                </a:tc>
                <a:extLst>
                  <a:ext uri="{0D108BD9-81ED-4DB2-BD59-A6C34878D82A}">
                    <a16:rowId xmlns:a16="http://schemas.microsoft.com/office/drawing/2014/main" val="2337972509"/>
                  </a:ext>
                </a:extLst>
              </a:tr>
              <a:tr h="652200">
                <a:tc>
                  <a:txBody>
                    <a:bodyPr/>
                    <a:lstStyle/>
                    <a:p>
                      <a:pPr>
                        <a:buNone/>
                      </a:pPr>
                      <a:r>
                        <a:rPr lang="en-IN" dirty="0"/>
                        <a:t>Move Mouse</a:t>
                      </a:r>
                    </a:p>
                  </a:txBody>
                  <a:tcPr anchor="ctr">
                    <a:lnL>
                      <a:noFill/>
                    </a:lnL>
                    <a:lnR>
                      <a:noFill/>
                    </a:lnR>
                    <a:lnT>
                      <a:noFill/>
                    </a:lnT>
                    <a:lnB>
                      <a:noFill/>
                    </a:lnB>
                    <a:noFill/>
                  </a:tcPr>
                </a:tc>
                <a:tc>
                  <a:txBody>
                    <a:bodyPr/>
                    <a:lstStyle/>
                    <a:p>
                      <a:pPr>
                        <a:buNone/>
                      </a:pPr>
                      <a:r>
                        <a:rPr lang="en-IN" dirty="0"/>
                        <a:t>☝️ (Index up only)</a:t>
                      </a:r>
                    </a:p>
                  </a:txBody>
                  <a:tcPr anchor="ctr">
                    <a:lnL>
                      <a:noFill/>
                    </a:lnL>
                    <a:lnR>
                      <a:noFill/>
                    </a:lnR>
                    <a:lnT>
                      <a:noFill/>
                    </a:lnT>
                    <a:lnB>
                      <a:noFill/>
                    </a:lnB>
                    <a:noFill/>
                  </a:tcPr>
                </a:tc>
                <a:tc>
                  <a:txBody>
                    <a:bodyPr/>
                    <a:lstStyle/>
                    <a:p>
                      <a:pPr>
                        <a:buNone/>
                      </a:pPr>
                      <a:r>
                        <a:rPr lang="en-US"/>
                        <a:t>Keep only index finger up and move your hand</a:t>
                      </a:r>
                    </a:p>
                  </a:txBody>
                  <a:tcPr anchor="ctr">
                    <a:lnL>
                      <a:noFill/>
                    </a:lnL>
                    <a:lnR>
                      <a:noFill/>
                    </a:lnR>
                    <a:lnT>
                      <a:noFill/>
                    </a:lnT>
                    <a:lnB>
                      <a:noFill/>
                    </a:lnB>
                    <a:noFill/>
                  </a:tcPr>
                </a:tc>
                <a:extLst>
                  <a:ext uri="{0D108BD9-81ED-4DB2-BD59-A6C34878D82A}">
                    <a16:rowId xmlns:a16="http://schemas.microsoft.com/office/drawing/2014/main" val="1868782196"/>
                  </a:ext>
                </a:extLst>
              </a:tr>
              <a:tr h="372686">
                <a:tc>
                  <a:txBody>
                    <a:bodyPr/>
                    <a:lstStyle/>
                    <a:p>
                      <a:pPr>
                        <a:buNone/>
                      </a:pPr>
                      <a:r>
                        <a:rPr lang="en-IN"/>
                        <a:t>Left Click</a:t>
                      </a:r>
                    </a:p>
                  </a:txBody>
                  <a:tcPr anchor="ctr">
                    <a:lnL>
                      <a:noFill/>
                    </a:lnL>
                    <a:lnR>
                      <a:noFill/>
                    </a:lnR>
                    <a:lnT>
                      <a:noFill/>
                    </a:lnT>
                    <a:lnB>
                      <a:noFill/>
                    </a:lnB>
                    <a:noFill/>
                  </a:tcPr>
                </a:tc>
                <a:tc>
                  <a:txBody>
                    <a:bodyPr/>
                    <a:lstStyle/>
                    <a:p>
                      <a:pPr>
                        <a:buNone/>
                      </a:pPr>
                      <a:r>
                        <a:rPr lang="en-IN" dirty="0"/>
                        <a:t>☝️ + ✌️ (together)</a:t>
                      </a:r>
                    </a:p>
                  </a:txBody>
                  <a:tcPr anchor="ctr">
                    <a:lnL>
                      <a:noFill/>
                    </a:lnL>
                    <a:lnR>
                      <a:noFill/>
                    </a:lnR>
                    <a:lnT>
                      <a:noFill/>
                    </a:lnT>
                    <a:lnB>
                      <a:noFill/>
                    </a:lnB>
                    <a:noFill/>
                  </a:tcPr>
                </a:tc>
                <a:tc>
                  <a:txBody>
                    <a:bodyPr/>
                    <a:lstStyle/>
                    <a:p>
                      <a:pPr>
                        <a:buNone/>
                      </a:pPr>
                      <a:r>
                        <a:rPr lang="en-IN"/>
                        <a:t>Bring index &amp; middle close</a:t>
                      </a:r>
                    </a:p>
                  </a:txBody>
                  <a:tcPr anchor="ctr">
                    <a:lnL>
                      <a:noFill/>
                    </a:lnL>
                    <a:lnR>
                      <a:noFill/>
                    </a:lnR>
                    <a:lnT>
                      <a:noFill/>
                    </a:lnT>
                    <a:lnB>
                      <a:noFill/>
                    </a:lnB>
                    <a:noFill/>
                  </a:tcPr>
                </a:tc>
                <a:extLst>
                  <a:ext uri="{0D108BD9-81ED-4DB2-BD59-A6C34878D82A}">
                    <a16:rowId xmlns:a16="http://schemas.microsoft.com/office/drawing/2014/main" val="805538354"/>
                  </a:ext>
                </a:extLst>
              </a:tr>
              <a:tr h="372686">
                <a:tc>
                  <a:txBody>
                    <a:bodyPr/>
                    <a:lstStyle/>
                    <a:p>
                      <a:pPr>
                        <a:buNone/>
                      </a:pPr>
                      <a:r>
                        <a:rPr lang="en-IN"/>
                        <a:t>Right Click</a:t>
                      </a:r>
                    </a:p>
                  </a:txBody>
                  <a:tcPr anchor="ctr">
                    <a:lnL>
                      <a:noFill/>
                    </a:lnL>
                    <a:lnR>
                      <a:noFill/>
                    </a:lnR>
                    <a:lnT>
                      <a:noFill/>
                    </a:lnT>
                    <a:lnB>
                      <a:noFill/>
                    </a:lnB>
                    <a:noFill/>
                  </a:tcPr>
                </a:tc>
                <a:tc>
                  <a:txBody>
                    <a:bodyPr/>
                    <a:lstStyle/>
                    <a:p>
                      <a:pPr>
                        <a:buNone/>
                      </a:pPr>
                      <a:r>
                        <a:rPr lang="en-IN"/>
                        <a:t>👍 + ☝️ (pinch)</a:t>
                      </a:r>
                    </a:p>
                  </a:txBody>
                  <a:tcPr anchor="ctr">
                    <a:lnL>
                      <a:noFill/>
                    </a:lnL>
                    <a:lnR>
                      <a:noFill/>
                    </a:lnR>
                    <a:lnT>
                      <a:noFill/>
                    </a:lnT>
                    <a:lnB>
                      <a:noFill/>
                    </a:lnB>
                    <a:noFill/>
                  </a:tcPr>
                </a:tc>
                <a:tc>
                  <a:txBody>
                    <a:bodyPr/>
                    <a:lstStyle/>
                    <a:p>
                      <a:pPr>
                        <a:buNone/>
                      </a:pPr>
                      <a:r>
                        <a:rPr lang="en-IN"/>
                        <a:t>Pinch thumb &amp; index</a:t>
                      </a:r>
                    </a:p>
                  </a:txBody>
                  <a:tcPr anchor="ctr">
                    <a:lnL>
                      <a:noFill/>
                    </a:lnL>
                    <a:lnR>
                      <a:noFill/>
                    </a:lnR>
                    <a:lnT>
                      <a:noFill/>
                    </a:lnT>
                    <a:lnB>
                      <a:noFill/>
                    </a:lnB>
                    <a:noFill/>
                  </a:tcPr>
                </a:tc>
                <a:extLst>
                  <a:ext uri="{0D108BD9-81ED-4DB2-BD59-A6C34878D82A}">
                    <a16:rowId xmlns:a16="http://schemas.microsoft.com/office/drawing/2014/main" val="3165491625"/>
                  </a:ext>
                </a:extLst>
              </a:tr>
              <a:tr h="372686">
                <a:tc>
                  <a:txBody>
                    <a:bodyPr/>
                    <a:lstStyle/>
                    <a:p>
                      <a:pPr>
                        <a:buNone/>
                      </a:pPr>
                      <a:r>
                        <a:rPr lang="en-IN"/>
                        <a:t>Double Click</a:t>
                      </a:r>
                    </a:p>
                  </a:txBody>
                  <a:tcPr anchor="ctr">
                    <a:lnL>
                      <a:noFill/>
                    </a:lnL>
                    <a:lnR>
                      <a:noFill/>
                    </a:lnR>
                    <a:lnT>
                      <a:noFill/>
                    </a:lnT>
                    <a:lnB>
                      <a:noFill/>
                    </a:lnB>
                    <a:noFill/>
                  </a:tcPr>
                </a:tc>
                <a:tc>
                  <a:txBody>
                    <a:bodyPr/>
                    <a:lstStyle/>
                    <a:p>
                      <a:pPr>
                        <a:buNone/>
                      </a:pPr>
                      <a:r>
                        <a:rPr lang="en-IN"/>
                        <a:t>☝️ + ✌️ + 🤟 (3 fingers up)</a:t>
                      </a:r>
                    </a:p>
                  </a:txBody>
                  <a:tcPr anchor="ctr">
                    <a:lnL>
                      <a:noFill/>
                    </a:lnL>
                    <a:lnR>
                      <a:noFill/>
                    </a:lnR>
                    <a:lnT>
                      <a:noFill/>
                    </a:lnT>
                    <a:lnB>
                      <a:noFill/>
                    </a:lnB>
                    <a:noFill/>
                  </a:tcPr>
                </a:tc>
                <a:tc>
                  <a:txBody>
                    <a:bodyPr/>
                    <a:lstStyle/>
                    <a:p>
                      <a:pPr>
                        <a:buNone/>
                      </a:pPr>
                      <a:r>
                        <a:rPr lang="en-IN" dirty="0"/>
                        <a:t>Raise index, middle, ring</a:t>
                      </a:r>
                    </a:p>
                  </a:txBody>
                  <a:tcPr anchor="ctr">
                    <a:lnL>
                      <a:noFill/>
                    </a:lnL>
                    <a:lnR>
                      <a:noFill/>
                    </a:lnR>
                    <a:lnT>
                      <a:noFill/>
                    </a:lnT>
                    <a:lnB>
                      <a:noFill/>
                    </a:lnB>
                    <a:noFill/>
                  </a:tcPr>
                </a:tc>
                <a:extLst>
                  <a:ext uri="{0D108BD9-81ED-4DB2-BD59-A6C34878D82A}">
                    <a16:rowId xmlns:a16="http://schemas.microsoft.com/office/drawing/2014/main" val="85186239"/>
                  </a:ext>
                </a:extLst>
              </a:tr>
              <a:tr h="372686">
                <a:tc>
                  <a:txBody>
                    <a:bodyPr/>
                    <a:lstStyle/>
                    <a:p>
                      <a:pPr>
                        <a:buNone/>
                      </a:pPr>
                      <a:r>
                        <a:rPr lang="en-IN"/>
                        <a:t>Scroll Up</a:t>
                      </a:r>
                    </a:p>
                  </a:txBody>
                  <a:tcPr anchor="ctr">
                    <a:lnL>
                      <a:noFill/>
                    </a:lnL>
                    <a:lnR>
                      <a:noFill/>
                    </a:lnR>
                    <a:lnT>
                      <a:noFill/>
                    </a:lnT>
                    <a:lnB>
                      <a:noFill/>
                    </a:lnB>
                    <a:noFill/>
                  </a:tcPr>
                </a:tc>
                <a:tc>
                  <a:txBody>
                    <a:bodyPr/>
                    <a:lstStyle/>
                    <a:p>
                      <a:pPr>
                        <a:buNone/>
                      </a:pPr>
                      <a:r>
                        <a:rPr lang="en-IN"/>
                        <a:t>☝️ + ✌️ + 🤘</a:t>
                      </a:r>
                    </a:p>
                  </a:txBody>
                  <a:tcPr anchor="ctr">
                    <a:lnL>
                      <a:noFill/>
                    </a:lnL>
                    <a:lnR>
                      <a:noFill/>
                    </a:lnR>
                    <a:lnT>
                      <a:noFill/>
                    </a:lnT>
                    <a:lnB>
                      <a:noFill/>
                    </a:lnB>
                    <a:noFill/>
                  </a:tcPr>
                </a:tc>
                <a:tc>
                  <a:txBody>
                    <a:bodyPr/>
                    <a:lstStyle/>
                    <a:p>
                      <a:pPr>
                        <a:buNone/>
                      </a:pPr>
                      <a:r>
                        <a:rPr lang="en-IN"/>
                        <a:t>Raise index, middle, pinky</a:t>
                      </a:r>
                    </a:p>
                  </a:txBody>
                  <a:tcPr anchor="ctr">
                    <a:lnL>
                      <a:noFill/>
                    </a:lnL>
                    <a:lnR>
                      <a:noFill/>
                    </a:lnR>
                    <a:lnT>
                      <a:noFill/>
                    </a:lnT>
                    <a:lnB>
                      <a:noFill/>
                    </a:lnB>
                    <a:noFill/>
                  </a:tcPr>
                </a:tc>
                <a:extLst>
                  <a:ext uri="{0D108BD9-81ED-4DB2-BD59-A6C34878D82A}">
                    <a16:rowId xmlns:a16="http://schemas.microsoft.com/office/drawing/2014/main" val="1314730584"/>
                  </a:ext>
                </a:extLst>
              </a:tr>
              <a:tr h="372686">
                <a:tc>
                  <a:txBody>
                    <a:bodyPr/>
                    <a:lstStyle/>
                    <a:p>
                      <a:pPr>
                        <a:buNone/>
                      </a:pPr>
                      <a:r>
                        <a:rPr lang="en-IN"/>
                        <a:t>Scroll Down</a:t>
                      </a:r>
                    </a:p>
                  </a:txBody>
                  <a:tcPr anchor="ctr">
                    <a:lnL>
                      <a:noFill/>
                    </a:lnL>
                    <a:lnR>
                      <a:noFill/>
                    </a:lnR>
                    <a:lnT>
                      <a:noFill/>
                    </a:lnT>
                    <a:lnB>
                      <a:noFill/>
                    </a:lnB>
                    <a:noFill/>
                  </a:tcPr>
                </a:tc>
                <a:tc>
                  <a:txBody>
                    <a:bodyPr/>
                    <a:lstStyle/>
                    <a:p>
                      <a:pPr>
                        <a:buNone/>
                      </a:pPr>
                      <a:r>
                        <a:rPr lang="en-IN"/>
                        <a:t>☝️ + 🤘</a:t>
                      </a:r>
                    </a:p>
                  </a:txBody>
                  <a:tcPr anchor="ctr">
                    <a:lnL>
                      <a:noFill/>
                    </a:lnL>
                    <a:lnR>
                      <a:noFill/>
                    </a:lnR>
                    <a:lnT>
                      <a:noFill/>
                    </a:lnT>
                    <a:lnB>
                      <a:noFill/>
                    </a:lnB>
                    <a:noFill/>
                  </a:tcPr>
                </a:tc>
                <a:tc>
                  <a:txBody>
                    <a:bodyPr/>
                    <a:lstStyle/>
                    <a:p>
                      <a:pPr>
                        <a:buNone/>
                      </a:pPr>
                      <a:r>
                        <a:rPr lang="en-IN"/>
                        <a:t>Raise index &amp; pinky</a:t>
                      </a:r>
                    </a:p>
                  </a:txBody>
                  <a:tcPr anchor="ctr">
                    <a:lnL>
                      <a:noFill/>
                    </a:lnL>
                    <a:lnR>
                      <a:noFill/>
                    </a:lnR>
                    <a:lnT>
                      <a:noFill/>
                    </a:lnT>
                    <a:lnB>
                      <a:noFill/>
                    </a:lnB>
                    <a:noFill/>
                  </a:tcPr>
                </a:tc>
                <a:extLst>
                  <a:ext uri="{0D108BD9-81ED-4DB2-BD59-A6C34878D82A}">
                    <a16:rowId xmlns:a16="http://schemas.microsoft.com/office/drawing/2014/main" val="3852073243"/>
                  </a:ext>
                </a:extLst>
              </a:tr>
              <a:tr h="372686">
                <a:tc>
                  <a:txBody>
                    <a:bodyPr/>
                    <a:lstStyle/>
                    <a:p>
                      <a:pPr>
                        <a:buNone/>
                      </a:pPr>
                      <a:r>
                        <a:rPr lang="en-IN"/>
                        <a:t>Drag &amp; Drop</a:t>
                      </a:r>
                    </a:p>
                  </a:txBody>
                  <a:tcPr anchor="ctr">
                    <a:lnL>
                      <a:noFill/>
                    </a:lnL>
                    <a:lnR>
                      <a:noFill/>
                    </a:lnR>
                    <a:lnT>
                      <a:noFill/>
                    </a:lnT>
                    <a:lnB>
                      <a:noFill/>
                    </a:lnB>
                    <a:noFill/>
                  </a:tcPr>
                </a:tc>
                <a:tc>
                  <a:txBody>
                    <a:bodyPr/>
                    <a:lstStyle/>
                    <a:p>
                      <a:pPr>
                        <a:buNone/>
                      </a:pPr>
                      <a:r>
                        <a:rPr lang="en-IN" dirty="0"/>
                        <a:t>👍 + ☝️ (pinch &amp; hold)</a:t>
                      </a:r>
                    </a:p>
                  </a:txBody>
                  <a:tcPr anchor="ctr">
                    <a:lnL>
                      <a:noFill/>
                    </a:lnL>
                    <a:lnR>
                      <a:noFill/>
                    </a:lnR>
                    <a:lnT>
                      <a:noFill/>
                    </a:lnT>
                    <a:lnB>
                      <a:noFill/>
                    </a:lnB>
                    <a:noFill/>
                  </a:tcPr>
                </a:tc>
                <a:tc>
                  <a:txBody>
                    <a:bodyPr/>
                    <a:lstStyle/>
                    <a:p>
                      <a:pPr>
                        <a:buNone/>
                      </a:pPr>
                      <a:r>
                        <a:rPr lang="en-US"/>
                        <a:t>Pinch and hold, move hand</a:t>
                      </a:r>
                    </a:p>
                  </a:txBody>
                  <a:tcPr anchor="ctr">
                    <a:lnL>
                      <a:noFill/>
                    </a:lnL>
                    <a:lnR>
                      <a:noFill/>
                    </a:lnR>
                    <a:lnT>
                      <a:noFill/>
                    </a:lnT>
                    <a:lnB>
                      <a:noFill/>
                    </a:lnB>
                    <a:noFill/>
                  </a:tcPr>
                </a:tc>
                <a:extLst>
                  <a:ext uri="{0D108BD9-81ED-4DB2-BD59-A6C34878D82A}">
                    <a16:rowId xmlns:a16="http://schemas.microsoft.com/office/drawing/2014/main" val="3574282805"/>
                  </a:ext>
                </a:extLst>
              </a:tr>
              <a:tr h="372686">
                <a:tc>
                  <a:txBody>
                    <a:bodyPr/>
                    <a:lstStyle/>
                    <a:p>
                      <a:pPr>
                        <a:buNone/>
                      </a:pPr>
                      <a:r>
                        <a:rPr lang="en-IN"/>
                        <a:t>Screenshot</a:t>
                      </a:r>
                    </a:p>
                  </a:txBody>
                  <a:tcPr anchor="ctr">
                    <a:lnL>
                      <a:noFill/>
                    </a:lnL>
                    <a:lnR>
                      <a:noFill/>
                    </a:lnR>
                    <a:lnT>
                      <a:noFill/>
                    </a:lnT>
                    <a:lnB>
                      <a:noFill/>
                    </a:lnB>
                    <a:noFill/>
                  </a:tcPr>
                </a:tc>
                <a:tc>
                  <a:txBody>
                    <a:bodyPr/>
                    <a:lstStyle/>
                    <a:p>
                      <a:pPr>
                        <a:buNone/>
                      </a:pPr>
                      <a:r>
                        <a:rPr lang="en-IN"/>
                        <a:t>👍 + ✌️ (pinch)</a:t>
                      </a:r>
                    </a:p>
                  </a:txBody>
                  <a:tcPr anchor="ctr">
                    <a:lnL>
                      <a:noFill/>
                    </a:lnL>
                    <a:lnR>
                      <a:noFill/>
                    </a:lnR>
                    <a:lnT>
                      <a:noFill/>
                    </a:lnT>
                    <a:lnB>
                      <a:noFill/>
                    </a:lnB>
                    <a:noFill/>
                  </a:tcPr>
                </a:tc>
                <a:tc>
                  <a:txBody>
                    <a:bodyPr/>
                    <a:lstStyle/>
                    <a:p>
                      <a:pPr>
                        <a:buNone/>
                      </a:pPr>
                      <a:r>
                        <a:rPr lang="en-IN"/>
                        <a:t>Pinch thumb &amp; middle</a:t>
                      </a:r>
                    </a:p>
                  </a:txBody>
                  <a:tcPr anchor="ctr">
                    <a:lnL>
                      <a:noFill/>
                    </a:lnL>
                    <a:lnR>
                      <a:noFill/>
                    </a:lnR>
                    <a:lnT>
                      <a:noFill/>
                    </a:lnT>
                    <a:lnB>
                      <a:noFill/>
                    </a:lnB>
                    <a:noFill/>
                  </a:tcPr>
                </a:tc>
                <a:extLst>
                  <a:ext uri="{0D108BD9-81ED-4DB2-BD59-A6C34878D82A}">
                    <a16:rowId xmlns:a16="http://schemas.microsoft.com/office/drawing/2014/main" val="2613712868"/>
                  </a:ext>
                </a:extLst>
              </a:tr>
              <a:tr h="372686">
                <a:tc>
                  <a:txBody>
                    <a:bodyPr/>
                    <a:lstStyle/>
                    <a:p>
                      <a:pPr>
                        <a:buNone/>
                      </a:pPr>
                      <a:r>
                        <a:rPr lang="en-IN" dirty="0"/>
                        <a:t>Exit App</a:t>
                      </a:r>
                    </a:p>
                  </a:txBody>
                  <a:tcPr anchor="ctr">
                    <a:lnL>
                      <a:noFill/>
                    </a:lnL>
                    <a:lnR>
                      <a:noFill/>
                    </a:lnR>
                    <a:lnT>
                      <a:noFill/>
                    </a:lnT>
                    <a:lnB>
                      <a:noFill/>
                    </a:lnB>
                    <a:noFill/>
                  </a:tcPr>
                </a:tc>
                <a:tc>
                  <a:txBody>
                    <a:bodyPr/>
                    <a:lstStyle/>
                    <a:p>
                      <a:pPr>
                        <a:buNone/>
                      </a:pPr>
                      <a:r>
                        <a:rPr lang="en-IN" dirty="0"/>
                        <a:t>  Press </a:t>
                      </a:r>
                      <a:r>
                        <a:rPr lang="en-IN" b="1" dirty="0"/>
                        <a:t>Q</a:t>
                      </a:r>
                      <a:endParaRPr lang="en-IN" dirty="0"/>
                    </a:p>
                  </a:txBody>
                  <a:tcPr anchor="ctr">
                    <a:lnL>
                      <a:noFill/>
                    </a:lnL>
                    <a:lnR>
                      <a:noFill/>
                    </a:lnR>
                    <a:lnT>
                      <a:noFill/>
                    </a:lnT>
                    <a:lnB>
                      <a:noFill/>
                    </a:lnB>
                    <a:noFill/>
                  </a:tcPr>
                </a:tc>
                <a:tc>
                  <a:txBody>
                    <a:bodyPr/>
                    <a:lstStyle/>
                    <a:p>
                      <a:pPr>
                        <a:buNone/>
                      </a:pPr>
                      <a:r>
                        <a:rPr lang="en-IN" dirty="0"/>
                        <a:t>Press Q on keyboard</a:t>
                      </a:r>
                    </a:p>
                  </a:txBody>
                  <a:tcPr anchor="ctr">
                    <a:lnL>
                      <a:noFill/>
                    </a:lnL>
                    <a:lnR>
                      <a:noFill/>
                    </a:lnR>
                    <a:lnT>
                      <a:noFill/>
                    </a:lnT>
                    <a:lnB>
                      <a:noFill/>
                    </a:lnB>
                    <a:noFill/>
                  </a:tcPr>
                </a:tc>
                <a:extLst>
                  <a:ext uri="{0D108BD9-81ED-4DB2-BD59-A6C34878D82A}">
                    <a16:rowId xmlns:a16="http://schemas.microsoft.com/office/drawing/2014/main" val="3246650222"/>
                  </a:ext>
                </a:extLst>
              </a:tr>
            </a:tbl>
          </a:graphicData>
        </a:graphic>
      </p:graphicFrame>
      <p:sp>
        <p:nvSpPr>
          <p:cNvPr id="11" name="TextBox 10">
            <a:extLst>
              <a:ext uri="{FF2B5EF4-FFF2-40B4-BE49-F238E27FC236}">
                <a16:creationId xmlns:a16="http://schemas.microsoft.com/office/drawing/2014/main" id="{97C87BBD-0000-C2B8-F407-2B1A3F50A43A}"/>
              </a:ext>
            </a:extLst>
          </p:cNvPr>
          <p:cNvSpPr txBox="1"/>
          <p:nvPr/>
        </p:nvSpPr>
        <p:spPr>
          <a:xfrm>
            <a:off x="838200" y="1379974"/>
            <a:ext cx="7625080" cy="369332"/>
          </a:xfrm>
          <a:prstGeom prst="rect">
            <a:avLst/>
          </a:prstGeom>
          <a:noFill/>
        </p:spPr>
        <p:txBody>
          <a:bodyPr wrap="square" rtlCol="0">
            <a:spAutoFit/>
          </a:bodyPr>
          <a:lstStyle/>
          <a:p>
            <a:r>
              <a:rPr lang="en-IN" dirty="0"/>
              <a:t>👍 Thumb | ☝️ Index | ✌️ Middle | 🤟 Ring | 🤘 Pinky </a:t>
            </a:r>
          </a:p>
        </p:txBody>
      </p:sp>
    </p:spTree>
    <p:extLst>
      <p:ext uri="{BB962C8B-B14F-4D97-AF65-F5344CB8AC3E}">
        <p14:creationId xmlns:p14="http://schemas.microsoft.com/office/powerpoint/2010/main" val="9744270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4D915E9D-69FE-07BB-01DD-492C3F4FC7CE}"/>
              </a:ext>
            </a:extLst>
          </p:cNvPr>
          <p:cNvSpPr txBox="1"/>
          <p:nvPr/>
        </p:nvSpPr>
        <p:spPr>
          <a:xfrm>
            <a:off x="670454" y="415117"/>
            <a:ext cx="4297471" cy="523220"/>
          </a:xfrm>
          <a:prstGeom prst="rect">
            <a:avLst/>
          </a:prstGeom>
          <a:noFill/>
        </p:spPr>
        <p:txBody>
          <a:bodyPr wrap="square" rtlCol="0">
            <a:spAutoFit/>
          </a:bodyPr>
          <a:lstStyle/>
          <a:p>
            <a:r>
              <a:rPr lang="en-IN" sz="2800" b="1" dirty="0"/>
              <a:t>Demo Video :</a:t>
            </a:r>
          </a:p>
        </p:txBody>
      </p:sp>
      <p:sp>
        <p:nvSpPr>
          <p:cNvPr id="3" name="TextBox 2">
            <a:extLst>
              <a:ext uri="{FF2B5EF4-FFF2-40B4-BE49-F238E27FC236}">
                <a16:creationId xmlns:a16="http://schemas.microsoft.com/office/drawing/2014/main" id="{B9E53CC5-6C72-3A64-6831-601349234B94}"/>
              </a:ext>
            </a:extLst>
          </p:cNvPr>
          <p:cNvSpPr txBox="1"/>
          <p:nvPr/>
        </p:nvSpPr>
        <p:spPr>
          <a:xfrm>
            <a:off x="933254" y="1432874"/>
            <a:ext cx="10114960" cy="1477328"/>
          </a:xfrm>
          <a:prstGeom prst="rect">
            <a:avLst/>
          </a:prstGeom>
          <a:noFill/>
        </p:spPr>
        <p:txBody>
          <a:bodyPr wrap="square" rtlCol="0">
            <a:spAutoFit/>
          </a:bodyPr>
          <a:lstStyle/>
          <a:p>
            <a:r>
              <a:rPr lang="en-IN" dirty="0"/>
              <a:t> </a:t>
            </a:r>
            <a:r>
              <a:rPr lang="en-IN" dirty="0">
                <a:hlinkClick r:id="rId2"/>
              </a:rPr>
              <a:t>https://www.linkedin.com/posts/emmadi-srikar-03baaa337_ai-computervision-pythonprojects-activity-7412896323714265088-nmYB?utm_source=share&amp;utm_medium=member_desktop&amp;rcm=ACoAAFSzla8Be3v9gFye535Y_jQ9rT0fL5q4Q6A</a:t>
            </a:r>
            <a:endParaRPr lang="en-IN" dirty="0"/>
          </a:p>
          <a:p>
            <a:endParaRPr lang="en-IN" dirty="0"/>
          </a:p>
        </p:txBody>
      </p:sp>
    </p:spTree>
    <p:extLst>
      <p:ext uri="{BB962C8B-B14F-4D97-AF65-F5344CB8AC3E}">
        <p14:creationId xmlns:p14="http://schemas.microsoft.com/office/powerpoint/2010/main" val="32911338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ED5048-51F3-0ED7-F3F4-AB3BA65ED1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4FB7F4-3ABB-44AA-34EA-F1E3D04199B1}"/>
              </a:ext>
            </a:extLst>
          </p:cNvPr>
          <p:cNvSpPr>
            <a:spLocks noGrp="1"/>
          </p:cNvSpPr>
          <p:nvPr>
            <p:ph type="title"/>
          </p:nvPr>
        </p:nvSpPr>
        <p:spPr>
          <a:xfrm>
            <a:off x="650450" y="499621"/>
            <a:ext cx="10618901" cy="676324"/>
          </a:xfrm>
        </p:spPr>
        <p:txBody>
          <a:bodyPr>
            <a:normAutofit/>
          </a:bodyPr>
          <a:lstStyle/>
          <a:p>
            <a:r>
              <a:rPr lang="en-IN" sz="3600" dirty="0">
                <a:latin typeface="Calibri" panose="020F0502020204030204" pitchFamily="34" charset="0"/>
                <a:ea typeface="Calibri" panose="020F0502020204030204" pitchFamily="34" charset="0"/>
                <a:cs typeface="Calibri" panose="020F0502020204030204" pitchFamily="34" charset="0"/>
              </a:rPr>
              <a:t>Features Implemented :</a:t>
            </a:r>
          </a:p>
        </p:txBody>
      </p:sp>
      <p:sp>
        <p:nvSpPr>
          <p:cNvPr id="3" name="Content Placeholder 2">
            <a:extLst>
              <a:ext uri="{FF2B5EF4-FFF2-40B4-BE49-F238E27FC236}">
                <a16:creationId xmlns:a16="http://schemas.microsoft.com/office/drawing/2014/main" id="{6D46E4B6-EAE7-B2C7-1C17-F23CE56A7B09}"/>
              </a:ext>
            </a:extLst>
          </p:cNvPr>
          <p:cNvSpPr>
            <a:spLocks noGrp="1"/>
          </p:cNvSpPr>
          <p:nvPr>
            <p:ph idx="1"/>
          </p:nvPr>
        </p:nvSpPr>
        <p:spPr>
          <a:xfrm>
            <a:off x="838200" y="1253765"/>
            <a:ext cx="10515600" cy="4251489"/>
          </a:xfrm>
        </p:spPr>
        <p:txBody>
          <a:bodyPr>
            <a:normAutofit/>
          </a:bodyPr>
          <a:lstStyle/>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Real-time hand tracking</a:t>
            </a:r>
          </a:p>
          <a:p>
            <a:r>
              <a:rPr lang="en-US" sz="2400" dirty="0">
                <a:latin typeface="Times New Roman" panose="02020603050405020304" pitchFamily="18" charset="0"/>
                <a:cs typeface="Times New Roman" panose="02020603050405020304" pitchFamily="18" charset="0"/>
              </a:rPr>
              <a:t>Touchless mouse movement</a:t>
            </a:r>
          </a:p>
          <a:p>
            <a:r>
              <a:rPr lang="en-US" sz="2400" dirty="0">
                <a:latin typeface="Times New Roman" panose="02020603050405020304" pitchFamily="18" charset="0"/>
                <a:cs typeface="Times New Roman" panose="02020603050405020304" pitchFamily="18" charset="0"/>
              </a:rPr>
              <a:t>Left click, right click, double click</a:t>
            </a:r>
          </a:p>
          <a:p>
            <a:r>
              <a:rPr lang="en-US" sz="2400" dirty="0">
                <a:latin typeface="Times New Roman" panose="02020603050405020304" pitchFamily="18" charset="0"/>
                <a:cs typeface="Times New Roman" panose="02020603050405020304" pitchFamily="18" charset="0"/>
              </a:rPr>
              <a:t>Scroll up &amp; down</a:t>
            </a:r>
          </a:p>
          <a:p>
            <a:r>
              <a:rPr lang="en-US" sz="2400" dirty="0">
                <a:latin typeface="Times New Roman" panose="02020603050405020304" pitchFamily="18" charset="0"/>
                <a:cs typeface="Times New Roman" panose="02020603050405020304" pitchFamily="18" charset="0"/>
              </a:rPr>
              <a:t>Drag and drop</a:t>
            </a:r>
          </a:p>
          <a:p>
            <a:r>
              <a:rPr lang="en-US" sz="2400" dirty="0">
                <a:latin typeface="Times New Roman" panose="02020603050405020304" pitchFamily="18" charset="0"/>
                <a:cs typeface="Times New Roman" panose="02020603050405020304" pitchFamily="18" charset="0"/>
              </a:rPr>
              <a:t>Screenshot capture</a:t>
            </a:r>
          </a:p>
          <a:p>
            <a:r>
              <a:rPr lang="en-US" sz="2400" dirty="0">
                <a:latin typeface="Times New Roman" panose="02020603050405020304" pitchFamily="18" charset="0"/>
                <a:cs typeface="Times New Roman" panose="02020603050405020304" pitchFamily="18" charset="0"/>
              </a:rPr>
              <a:t>FPS display</a:t>
            </a:r>
          </a:p>
          <a:p>
            <a:r>
              <a:rPr lang="en-US" sz="2400" dirty="0">
                <a:latin typeface="Times New Roman" panose="02020603050405020304" pitchFamily="18" charset="0"/>
                <a:cs typeface="Times New Roman" panose="02020603050405020304" pitchFamily="18" charset="0"/>
              </a:rPr>
              <a:t>Action feedback on screen</a:t>
            </a:r>
          </a:p>
          <a:p>
            <a:endParaRPr lang="en-IN" dirty="0"/>
          </a:p>
          <a:p>
            <a:endParaRPr lang="en-IN" dirty="0"/>
          </a:p>
          <a:p>
            <a:endParaRPr lang="en-IN" dirty="0"/>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196359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D7C58-D9E3-69EE-281C-4B468D36AB2D}"/>
              </a:ext>
            </a:extLst>
          </p:cNvPr>
          <p:cNvSpPr>
            <a:spLocks noGrp="1"/>
          </p:cNvSpPr>
          <p:nvPr>
            <p:ph type="title"/>
          </p:nvPr>
        </p:nvSpPr>
        <p:spPr>
          <a:xfrm>
            <a:off x="838200" y="365125"/>
            <a:ext cx="10515600" cy="945201"/>
          </a:xfrm>
        </p:spPr>
        <p:txBody>
          <a:bodyPr>
            <a:normAutofit/>
          </a:bodyPr>
          <a:lstStyle/>
          <a:p>
            <a:r>
              <a:rPr lang="en-IN" sz="3600" dirty="0">
                <a:latin typeface="Calibri" panose="020F0502020204030204" pitchFamily="34" charset="0"/>
                <a:ea typeface="Calibri" panose="020F0502020204030204" pitchFamily="34" charset="0"/>
                <a:cs typeface="Calibri" panose="020F0502020204030204" pitchFamily="34" charset="0"/>
              </a:rPr>
              <a:t>Advantages :</a:t>
            </a:r>
          </a:p>
        </p:txBody>
      </p:sp>
      <p:sp>
        <p:nvSpPr>
          <p:cNvPr id="3" name="Content Placeholder 2">
            <a:extLst>
              <a:ext uri="{FF2B5EF4-FFF2-40B4-BE49-F238E27FC236}">
                <a16:creationId xmlns:a16="http://schemas.microsoft.com/office/drawing/2014/main" id="{E1861233-06AB-FB74-449C-AE1BEDD9FF5A}"/>
              </a:ext>
            </a:extLst>
          </p:cNvPr>
          <p:cNvSpPr>
            <a:spLocks noGrp="1"/>
          </p:cNvSpPr>
          <p:nvPr>
            <p:ph idx="1"/>
          </p:nvPr>
        </p:nvSpPr>
        <p:spPr>
          <a:xfrm>
            <a:off x="838200" y="1753385"/>
            <a:ext cx="10515600" cy="4423577"/>
          </a:xfrm>
        </p:spPr>
        <p:txBody>
          <a:bodyPr/>
          <a:lstStyle/>
          <a:p>
            <a:r>
              <a:rPr lang="en-IN" sz="2400" dirty="0">
                <a:latin typeface="Times New Roman" panose="02020603050405020304" pitchFamily="18" charset="0"/>
                <a:cs typeface="Times New Roman" panose="02020603050405020304" pitchFamily="18" charset="0"/>
              </a:rPr>
              <a:t>Contactless interaction</a:t>
            </a:r>
          </a:p>
          <a:p>
            <a:r>
              <a:rPr lang="en-IN" sz="2400" dirty="0">
                <a:latin typeface="Times New Roman" panose="02020603050405020304" pitchFamily="18" charset="0"/>
                <a:cs typeface="Times New Roman" panose="02020603050405020304" pitchFamily="18" charset="0"/>
              </a:rPr>
              <a:t>Useful for hygiene environments</a:t>
            </a:r>
          </a:p>
          <a:p>
            <a:r>
              <a:rPr lang="en-IN" sz="2400" dirty="0">
                <a:latin typeface="Times New Roman" panose="02020603050405020304" pitchFamily="18" charset="0"/>
                <a:cs typeface="Times New Roman" panose="02020603050405020304" pitchFamily="18" charset="0"/>
              </a:rPr>
              <a:t>Accessibility support</a:t>
            </a:r>
          </a:p>
          <a:p>
            <a:r>
              <a:rPr lang="en-US" sz="2400" dirty="0">
                <a:latin typeface="Times New Roman" panose="02020603050405020304" pitchFamily="18" charset="0"/>
                <a:cs typeface="Times New Roman" panose="02020603050405020304" pitchFamily="18" charset="0"/>
              </a:rPr>
              <a:t>No external hardware required</a:t>
            </a:r>
          </a:p>
          <a:p>
            <a:r>
              <a:rPr lang="en-US" sz="2400" dirty="0">
                <a:latin typeface="Times New Roman" panose="02020603050405020304" pitchFamily="18" charset="0"/>
                <a:cs typeface="Times New Roman" panose="02020603050405020304" pitchFamily="18" charset="0"/>
              </a:rPr>
              <a:t>Cost-effective solution</a:t>
            </a:r>
          </a:p>
          <a:p>
            <a:endParaRPr lang="en-IN" dirty="0"/>
          </a:p>
          <a:p>
            <a:endParaRPr lang="en-IN" dirty="0"/>
          </a:p>
        </p:txBody>
      </p:sp>
    </p:spTree>
    <p:extLst>
      <p:ext uri="{BB962C8B-B14F-4D97-AF65-F5344CB8AC3E}">
        <p14:creationId xmlns:p14="http://schemas.microsoft.com/office/powerpoint/2010/main" val="22162521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2D8739-81FA-FEA1-D8E7-3E5B8E234346}"/>
              </a:ext>
            </a:extLst>
          </p:cNvPr>
          <p:cNvSpPr>
            <a:spLocks noGrp="1"/>
          </p:cNvSpPr>
          <p:nvPr>
            <p:ph type="title"/>
          </p:nvPr>
        </p:nvSpPr>
        <p:spPr/>
        <p:txBody>
          <a:bodyPr/>
          <a:lstStyle/>
          <a:p>
            <a:r>
              <a:rPr lang="en-IN" sz="4000" dirty="0">
                <a:latin typeface="Calibri" panose="020F0502020204030204" pitchFamily="34" charset="0"/>
                <a:ea typeface="Calibri" panose="020F0502020204030204" pitchFamily="34" charset="0"/>
                <a:cs typeface="Calibri" panose="020F0502020204030204" pitchFamily="34" charset="0"/>
              </a:rPr>
              <a:t>Limitations :</a:t>
            </a:r>
          </a:p>
        </p:txBody>
      </p:sp>
      <p:sp>
        <p:nvSpPr>
          <p:cNvPr id="3" name="Content Placeholder 2">
            <a:extLst>
              <a:ext uri="{FF2B5EF4-FFF2-40B4-BE49-F238E27FC236}">
                <a16:creationId xmlns:a16="http://schemas.microsoft.com/office/drawing/2014/main" id="{927D27DF-4645-32B7-5D99-28D4E712C6B6}"/>
              </a:ext>
            </a:extLst>
          </p:cNvPr>
          <p:cNvSpPr>
            <a:spLocks noGrp="1"/>
          </p:cNvSpPr>
          <p:nvPr>
            <p:ph idx="1"/>
          </p:nvPr>
        </p:nvSpPr>
        <p:spPr>
          <a:xfrm>
            <a:off x="838200" y="1825625"/>
            <a:ext cx="10515600" cy="2972618"/>
          </a:xfrm>
        </p:spPr>
        <p:txBody>
          <a:bodyPr/>
          <a:lstStyle/>
          <a:p>
            <a:r>
              <a:rPr lang="en-US" sz="2400" dirty="0">
                <a:latin typeface="Times New Roman" panose="02020603050405020304" pitchFamily="18" charset="0"/>
                <a:cs typeface="Times New Roman" panose="02020603050405020304" pitchFamily="18" charset="0"/>
              </a:rPr>
              <a:t>Depends on lighting conditions</a:t>
            </a:r>
          </a:p>
          <a:p>
            <a:r>
              <a:rPr lang="en-US" sz="2400" dirty="0">
                <a:latin typeface="Times New Roman" panose="02020603050405020304" pitchFamily="18" charset="0"/>
                <a:cs typeface="Times New Roman" panose="02020603050405020304" pitchFamily="18" charset="0"/>
              </a:rPr>
              <a:t>Background noise may affect detection</a:t>
            </a:r>
          </a:p>
          <a:p>
            <a:r>
              <a:rPr lang="en-US" sz="2400" dirty="0">
                <a:latin typeface="Times New Roman" panose="02020603050405020304" pitchFamily="18" charset="0"/>
                <a:cs typeface="Times New Roman" panose="02020603050405020304" pitchFamily="18" charset="0"/>
              </a:rPr>
              <a:t>Needs good camera quality</a:t>
            </a:r>
          </a:p>
          <a:p>
            <a:r>
              <a:rPr lang="en-US" sz="2400" dirty="0">
                <a:latin typeface="Times New Roman" panose="02020603050405020304" pitchFamily="18" charset="0"/>
                <a:cs typeface="Times New Roman" panose="02020603050405020304" pitchFamily="18" charset="0"/>
              </a:rPr>
              <a:t>Slight delay in low-end systems</a:t>
            </a:r>
          </a:p>
        </p:txBody>
      </p:sp>
    </p:spTree>
    <p:extLst>
      <p:ext uri="{BB962C8B-B14F-4D97-AF65-F5344CB8AC3E}">
        <p14:creationId xmlns:p14="http://schemas.microsoft.com/office/powerpoint/2010/main" val="3007590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AC1ACC-1D29-F511-3492-B37DD6AFA1AB}"/>
              </a:ext>
            </a:extLst>
          </p:cNvPr>
          <p:cNvSpPr>
            <a:spLocks noGrp="1"/>
          </p:cNvSpPr>
          <p:nvPr>
            <p:ph type="title"/>
          </p:nvPr>
        </p:nvSpPr>
        <p:spPr>
          <a:xfrm>
            <a:off x="706225" y="553662"/>
            <a:ext cx="10515600" cy="888640"/>
          </a:xfrm>
        </p:spPr>
        <p:txBody>
          <a:bodyPr/>
          <a:lstStyle/>
          <a:p>
            <a:r>
              <a:rPr lang="en-IN" sz="4000" dirty="0">
                <a:latin typeface="Calibri" panose="020F0502020204030204" pitchFamily="34" charset="0"/>
                <a:ea typeface="Calibri" panose="020F0502020204030204" pitchFamily="34" charset="0"/>
                <a:cs typeface="Calibri" panose="020F0502020204030204" pitchFamily="34" charset="0"/>
              </a:rPr>
              <a:t>Challenges Faced </a:t>
            </a:r>
            <a:r>
              <a:rPr lang="en-IN" dirty="0"/>
              <a:t>:</a:t>
            </a:r>
          </a:p>
        </p:txBody>
      </p:sp>
      <p:sp>
        <p:nvSpPr>
          <p:cNvPr id="12" name="TextBox 11">
            <a:extLst>
              <a:ext uri="{FF2B5EF4-FFF2-40B4-BE49-F238E27FC236}">
                <a16:creationId xmlns:a16="http://schemas.microsoft.com/office/drawing/2014/main" id="{FEE927A6-F68F-D3DA-4D2B-7CEE92B87B22}"/>
              </a:ext>
            </a:extLst>
          </p:cNvPr>
          <p:cNvSpPr txBox="1"/>
          <p:nvPr/>
        </p:nvSpPr>
        <p:spPr>
          <a:xfrm>
            <a:off x="791852" y="1923068"/>
            <a:ext cx="6419653" cy="2083647"/>
          </a:xfrm>
          <a:prstGeom prst="rect">
            <a:avLst/>
          </a:prstGeom>
          <a:noFill/>
        </p:spPr>
        <p:txBody>
          <a:bodyPr wrap="square" rtlCol="0">
            <a:spAutoFit/>
          </a:bodyPr>
          <a:lstStyle/>
          <a:p>
            <a:pPr marL="228600" indent="-228600">
              <a:lnSpc>
                <a:spcPct val="90000"/>
              </a:lnSpc>
              <a:spcBef>
                <a:spcPts val="100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Works poorly in low lighting</a:t>
            </a:r>
          </a:p>
          <a:p>
            <a:pPr marL="228600" indent="-228600">
              <a:lnSpc>
                <a:spcPct val="90000"/>
              </a:lnSpc>
              <a:spcBef>
                <a:spcPts val="100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Cursor sometimes shakes</a:t>
            </a:r>
          </a:p>
          <a:p>
            <a:pPr marL="228600" indent="-228600">
              <a:lnSpc>
                <a:spcPct val="90000"/>
              </a:lnSpc>
              <a:spcBef>
                <a:spcPts val="100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Similar gestures can get confused</a:t>
            </a:r>
          </a:p>
          <a:p>
            <a:pPr marL="228600" indent="-228600">
              <a:lnSpc>
                <a:spcPct val="90000"/>
              </a:lnSpc>
              <a:spcBef>
                <a:spcPts val="100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Performance drops on slow systems</a:t>
            </a:r>
          </a:p>
          <a:p>
            <a:pPr marL="285750" indent="-285750">
              <a:buFont typeface="Arial" panose="020B0604020202020204" pitchFamily="34" charset="0"/>
              <a:buChar char="•"/>
            </a:pPr>
            <a:endParaRPr lang="en-IN" dirty="0"/>
          </a:p>
        </p:txBody>
      </p:sp>
    </p:spTree>
    <p:extLst>
      <p:ext uri="{BB962C8B-B14F-4D97-AF65-F5344CB8AC3E}">
        <p14:creationId xmlns:p14="http://schemas.microsoft.com/office/powerpoint/2010/main" val="5382072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303D3-1B47-0C62-D9A9-C2F5988ED17D}"/>
              </a:ext>
            </a:extLst>
          </p:cNvPr>
          <p:cNvSpPr>
            <a:spLocks noGrp="1"/>
          </p:cNvSpPr>
          <p:nvPr>
            <p:ph type="title"/>
          </p:nvPr>
        </p:nvSpPr>
        <p:spPr/>
        <p:txBody>
          <a:bodyPr/>
          <a:lstStyle/>
          <a:p>
            <a:r>
              <a:rPr lang="en-IN" sz="4000" dirty="0">
                <a:latin typeface="Calibri" panose="020F0502020204030204" pitchFamily="34" charset="0"/>
                <a:ea typeface="Calibri" panose="020F0502020204030204" pitchFamily="34" charset="0"/>
                <a:cs typeface="Calibri" panose="020F0502020204030204" pitchFamily="34" charset="0"/>
              </a:rPr>
              <a:t>Conclusion :</a:t>
            </a:r>
          </a:p>
        </p:txBody>
      </p:sp>
      <p:sp>
        <p:nvSpPr>
          <p:cNvPr id="9" name="TextBox 8">
            <a:extLst>
              <a:ext uri="{FF2B5EF4-FFF2-40B4-BE49-F238E27FC236}">
                <a16:creationId xmlns:a16="http://schemas.microsoft.com/office/drawing/2014/main" id="{F72E868F-5A37-C4B9-E044-6DE3F6E27F3B}"/>
              </a:ext>
            </a:extLst>
          </p:cNvPr>
          <p:cNvSpPr txBox="1"/>
          <p:nvPr/>
        </p:nvSpPr>
        <p:spPr>
          <a:xfrm>
            <a:off x="838200" y="2077187"/>
            <a:ext cx="10068611" cy="2677656"/>
          </a:xfrm>
          <a:prstGeom prst="rect">
            <a:avLst/>
          </a:prstGeom>
          <a:noFill/>
        </p:spPr>
        <p:txBody>
          <a:bodyPr wrap="square" rtlCol="0">
            <a:spAutoFit/>
          </a:bodyPr>
          <a:lstStyle/>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Successfully built an </a:t>
            </a:r>
            <a:r>
              <a:rPr lang="en-US" sz="2400" b="1" dirty="0">
                <a:latin typeface="Times New Roman" panose="02020603050405020304" pitchFamily="18" charset="0"/>
                <a:cs typeface="Times New Roman" panose="02020603050405020304" pitchFamily="18" charset="0"/>
              </a:rPr>
              <a:t>AI Virtual Mouse </a:t>
            </a:r>
            <a:r>
              <a:rPr lang="en-US" sz="2400" dirty="0">
                <a:latin typeface="Times New Roman" panose="02020603050405020304" pitchFamily="18" charset="0"/>
                <a:cs typeface="Times New Roman" panose="02020603050405020304" pitchFamily="18" charset="0"/>
              </a:rPr>
              <a:t>using computer vision.</a:t>
            </a:r>
          </a:p>
          <a:p>
            <a:pPr marL="285750" indent="-28575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Demonstrates practical application of hand tracking &amp; gesture recognition.</a:t>
            </a:r>
          </a:p>
          <a:p>
            <a:pPr marL="285750" indent="-28575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Project shows real-time AI interaction with system hardware.</a:t>
            </a:r>
          </a:p>
          <a:p>
            <a:pPr marL="285750" indent="-28575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Can be extended for smart systems and accessibility tools.</a:t>
            </a:r>
          </a:p>
        </p:txBody>
      </p:sp>
    </p:spTree>
    <p:extLst>
      <p:ext uri="{BB962C8B-B14F-4D97-AF65-F5344CB8AC3E}">
        <p14:creationId xmlns:p14="http://schemas.microsoft.com/office/powerpoint/2010/main" val="28482020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THANK YOU</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1891</TotalTime>
  <Words>701</Words>
  <Application>Microsoft Office PowerPoint</Application>
  <PresentationFormat>Widescreen</PresentationFormat>
  <Paragraphs>132</Paragraphs>
  <Slides>18</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Libre Baskerville</vt:lpstr>
      <vt:lpstr>Calibri Light</vt:lpstr>
      <vt:lpstr>Times New Roman</vt:lpstr>
      <vt:lpstr>Calibri</vt:lpstr>
      <vt:lpstr>Lato Black</vt:lpstr>
      <vt:lpstr>Arial</vt:lpstr>
      <vt:lpstr>Office Theme</vt:lpstr>
      <vt:lpstr>PowerPoint Presentation</vt:lpstr>
      <vt:lpstr>About me</vt:lpstr>
      <vt:lpstr>AGENDA :</vt:lpstr>
      <vt:lpstr>Introduction :</vt:lpstr>
      <vt:lpstr>PowerPoint Presentation</vt:lpstr>
      <vt:lpstr> Problem Statement : </vt:lpstr>
      <vt:lpstr>Objective :</vt:lpstr>
      <vt:lpstr>Technologies Used :</vt:lpstr>
      <vt:lpstr>PowerPoint Presentation</vt:lpstr>
      <vt:lpstr>Hand Tracking Module :</vt:lpstr>
      <vt:lpstr>Gesture Mapping :</vt:lpstr>
      <vt:lpstr>PowerPoint Presentation</vt:lpstr>
      <vt:lpstr>Features Implemented :</vt:lpstr>
      <vt:lpstr>Advantages :</vt:lpstr>
      <vt:lpstr>Limitations :</vt:lpstr>
      <vt:lpstr>Challenges Faced :</vt:lpstr>
      <vt:lpstr>Conclusion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srikar emmadi</cp:lastModifiedBy>
  <cp:revision>35</cp:revision>
  <dcterms:created xsi:type="dcterms:W3CDTF">2021-02-16T05:19:01Z</dcterms:created>
  <dcterms:modified xsi:type="dcterms:W3CDTF">2026-02-13T09:37:14Z</dcterms:modified>
</cp:coreProperties>
</file>